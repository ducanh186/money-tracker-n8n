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5_3D1DAAB.xml" ContentType="application/vnd.ms-powerpoint.comments+xml"/>
  <Override PartName="/ppt/comments/modernComment_10E_4FFADCD8.xml" ContentType="application/vnd.ms-powerpoint.comments+xml"/>
  <Override PartName="/ppt/comments/modernComment_115_AC9219A7.xml" ContentType="application/vnd.ms-powerpoint.comments+xml"/>
  <Override PartName="/ppt/comments/modernComment_116_F9CDD184.xml" ContentType="application/vnd.ms-powerpoint.comments+xml"/>
  <Override PartName="/ppt/comments/modernComment_117_467E630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6"/>
  </p:notesMasterIdLst>
  <p:handoutMasterIdLst>
    <p:handoutMasterId r:id="rId17"/>
  </p:handoutMasterIdLst>
  <p:sldIdLst>
    <p:sldId id="275" r:id="rId2"/>
    <p:sldId id="257" r:id="rId3"/>
    <p:sldId id="276" r:id="rId4"/>
    <p:sldId id="261" r:id="rId5"/>
    <p:sldId id="270" r:id="rId6"/>
    <p:sldId id="277" r:id="rId7"/>
    <p:sldId id="278" r:id="rId8"/>
    <p:sldId id="279" r:id="rId9"/>
    <p:sldId id="267" r:id="rId10"/>
    <p:sldId id="271" r:id="rId11"/>
    <p:sldId id="272" r:id="rId12"/>
    <p:sldId id="273" r:id="rId13"/>
    <p:sldId id="274"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BE1A71C-3FA1-1BF4-7AC7-D301D92A59A0}" name="Duong Van Bao 20233997" initials="D2" userId="S::bao.dv233997@sis.hust.edu.vn::c18bdae4-58de-45bc-ad5c-1d7290d3632b" providerId="AD"/>
  <p188:author id="{12D54735-4FFF-4F62-C6A4-7D8352515332}" name="Pham Tuan Kiet 20234017" initials="P2" userId="S::kiet.pt234017@sis.hust.edu.vn::687545ee-12aa-4f68-b8ab-5b3626ef1d62" providerId="AD"/>
  <p188:author id="{BD0196A0-FC60-EDA9-76B5-EBFC1CF0C677}" name="Pham Thi Nhan" initials="PN" userId="S::nhan.phamthi@hust.edu.vn::4e735580-2860-4925-8b11-d2cc64790b6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9A756-15B6-C188-A3D8-E8B5C771091C}" v="20" dt="2026-03-11T15:01:30.354"/>
    <p1510:client id="{0D137588-695E-A7B2-3BCD-D7F6BA423DEE}" v="5" dt="2026-03-11T15:09:48.802"/>
    <p1510:client id="{477A02CB-3699-1A2B-E76E-8108C90DD834}" v="3" dt="2026-03-13T07:09:17.303"/>
    <p1510:client id="{C998666F-8979-5CA0-9426-235B4D9A424B}" v="21" dt="2026-03-12T16:35:35.738"/>
    <p1510:client id="{DB3E3680-BA4B-1F18-4B61-A771804F2EDA}" v="8" dt="2026-03-12T16:34:43.402"/>
    <p1510:client id="{E5A08E59-8651-4D6D-BD0B-6825AB1C8418}" v="2490" dt="2026-03-11T14:54:21.851"/>
    <p1510:client id="{F6FC772F-44B1-F54C-5915-8E5D97107F21}" v="39" dt="2026-03-11T14:28:25.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omments/modernComment_10E_4FFADCD8.xml><?xml version="1.0" encoding="utf-8"?>
<p188:cmLst xmlns:a="http://schemas.openxmlformats.org/drawingml/2006/main" xmlns:r="http://schemas.openxmlformats.org/officeDocument/2006/relationships" xmlns:p188="http://schemas.microsoft.com/office/powerpoint/2018/8/main">
  <p188:cm id="{26C4892C-0F97-4479-A5D7-2046706A0D34}" authorId="{BD0196A0-FC60-EDA9-76B5-EBFC1CF0C677}" created="2026-03-12T16:28:39.174">
    <pc:sldMkLst xmlns:pc="http://schemas.microsoft.com/office/powerpoint/2013/main/command">
      <pc:docMk/>
      <pc:sldMk cId="1341840600" sldId="270"/>
    </pc:sldMkLst>
    <p188:txBody>
      <a:bodyPr/>
      <a:lstStyle/>
      <a:p>
        <a:r>
          <a:rPr lang="en-US"/>
          <a:t>Cần có cơ sở lý thuyết trước đó:
Vì sao trích xuất điểm mấu chốt trên mặt và tay? Có các nhận diện dấu hiệu khác không?
Vì sao sử dụng bộ lộc DSP để tính tàn số run (tần số run là gì? không viết tiếng việt và tiếng Anh lẫn lộn-trừ những từ tiếng anh đã được công nhận sử dụng phổ biến trong chuyên môn, còn lại đều phải dịch rõ ra tiếng Việt)- ngay cả từ IoT cũng được dịch ra tiếng Việt trước khi dùng viết tắt như vậy
Biên độ vỗ ngón tay là gì? tại sao cần xác định nó
Mô hình AI lựa chọn là mô hình nào?
Vì sao cần mô hình AI?</a:t>
        </a:r>
      </a:p>
    </p188:txBody>
  </p188:cm>
</p188:cmLst>
</file>

<file path=ppt/comments/modernComment_105_3D1DAAB.xml><?xml version="1.0" encoding="utf-8"?>
<p188:cmLst xmlns:a="http://schemas.openxmlformats.org/drawingml/2006/main" xmlns:r="http://schemas.openxmlformats.org/officeDocument/2006/relationships" xmlns:p188="http://schemas.microsoft.com/office/powerpoint/2018/8/main">
  <p188:cm id="{0011EB89-AF84-4FC9-8DF8-7587241382F0}" authorId="{BD0196A0-FC60-EDA9-76B5-EBFC1CF0C677}" created="2026-03-12T16:24:18.646">
    <pc:sldMkLst xmlns:pc="http://schemas.microsoft.com/office/powerpoint/2013/main/command">
      <pc:docMk/>
      <pc:sldMk cId="64084651" sldId="261"/>
    </pc:sldMkLst>
    <p188:replyLst>
      <p188:reply id="{802FFFFE-0E4D-4A24-875F-49787BA1AF40}" authorId="{9BE1A71C-3FA1-1BF4-7AC7-D301D92A59A0}" created="2026-03-12T16:35:35.738">
        <p188:txBody>
          <a:bodyPr/>
          <a:lstStyle/>
          <a:p>
            <a:r>
              <a:rPr lang="en-US"/>
              <a:t>Ở phần đặt vấn đề này bọn em tóm tắt từ Nhật kí kỹ thuật ạ, bọn em tiếp thu và sẽ tiếp tục bổ sung thêm ạ </a:t>
            </a:r>
          </a:p>
        </p188:txBody>
        <p188:extLst>
          <p:ext xmlns:p="http://schemas.openxmlformats.org/presentationml/2006/main" uri="{57CB4572-C831-44C2-8A1C-0ADB6CCDFE69}">
            <p223:reactions xmlns:p223="http://schemas.microsoft.com/office/powerpoint/2022/03/main">
              <p223:rxn type="👍">
                <p223:instance time="2026-03-13T07:09:17.303" authorId="{12D54735-4FFF-4F62-C6A4-7D8352515332}"/>
              </p223:rxn>
            </p223:reactions>
          </p:ext>
        </p188:extLst>
      </p188:reply>
    </p188:replyLst>
    <p188:txBody>
      <a:bodyPr/>
      <a:lstStyle/>
      <a:p>
        <a:r>
          <a:rPr lang="en-US"/>
          <a:t>Khi đặt vấn đề, các số liệu hay kết luận đưa ra các em cần có minh chứng cho điều mình nói nhé (dẫn nguồn cụ thể, nguồn đáng tin cậy)</a:t>
        </a:r>
      </a:p>
    </p188:txBody>
  </p188:cm>
</p188:cmLst>
</file>

<file path=ppt/comments/modernComment_115_AC9219A7.xml><?xml version="1.0" encoding="utf-8"?>
<p188:cmLst xmlns:a="http://schemas.openxmlformats.org/drawingml/2006/main" xmlns:r="http://schemas.openxmlformats.org/officeDocument/2006/relationships" xmlns:p188="http://schemas.microsoft.com/office/powerpoint/2018/8/main">
  <p188:cm id="{032A3DE7-1C31-4B5E-BA8F-BCB7EAEF4DCB}" authorId="{BD0196A0-FC60-EDA9-76B5-EBFC1CF0C677}" created="2026-03-12T16:30:59.946">
    <ac:txMkLst xmlns:ac="http://schemas.microsoft.com/office/drawing/2013/main/command">
      <pc:docMk xmlns:pc="http://schemas.microsoft.com/office/powerpoint/2013/main/command"/>
      <pc:sldMk xmlns:pc="http://schemas.microsoft.com/office/powerpoint/2013/main/command" cId="2895255975" sldId="277"/>
      <ac:spMk id="6" creationId="{44E56BA2-02F0-EF17-48E8-B5D418BF8D67}"/>
      <ac:txMk cp="27" len="9">
        <ac:context len="205" hash="1994643106"/>
      </ac:txMk>
    </ac:txMkLst>
    <p188:pos x="3872204" y="349897"/>
    <p188:txBody>
      <a:bodyPr/>
      <a:lstStyle/>
      <a:p>
        <a:r>
          <a:rPr lang="en-US"/>
          <a:t>Vì sao cần "Video 720p, tối thiểu 30 fps.​"
Vì sao cần trích xuất tọa độ xương?, xử lý bằng cách nào? Lưu đồ thuật toán?
"Gán nhãn thông minh" là gì? Vì sao gọi là "thông minh", vì sao "kèm xác suất"</a:t>
        </a:r>
      </a:p>
    </p188:txBody>
  </p188:cm>
</p188:cmLst>
</file>

<file path=ppt/comments/modernComment_116_F9CDD184.xml><?xml version="1.0" encoding="utf-8"?>
<p188:cmLst xmlns:a="http://schemas.openxmlformats.org/drawingml/2006/main" xmlns:r="http://schemas.openxmlformats.org/officeDocument/2006/relationships" xmlns:p188="http://schemas.microsoft.com/office/powerpoint/2018/8/main">
  <p188:cm id="{263ED1EE-4D08-493F-943E-09BCD5FE7D83}" authorId="{BD0196A0-FC60-EDA9-76B5-EBFC1CF0C677}" created="2026-03-12T16:33:48.416">
    <ac:txMkLst xmlns:ac="http://schemas.microsoft.com/office/drawing/2013/main/command">
      <pc:docMk xmlns:pc="http://schemas.microsoft.com/office/powerpoint/2013/main/command"/>
      <pc:sldMk xmlns:pc="http://schemas.microsoft.com/office/powerpoint/2013/main/command" cId="4191015300" sldId="278"/>
      <ac:spMk id="6" creationId="{E129727D-D692-61A0-F8C3-21D4B9D24EB5}"/>
      <ac:txMk cp="169" len="63">
        <ac:context len="234" hash="3252723633"/>
      </ac:txMk>
    </ac:txMkLst>
    <p188:pos x="1166326" y="1411255"/>
    <p188:txBody>
      <a:bodyPr/>
      <a:lstStyle/>
      <a:p>
        <a:r>
          <a:rPr lang="en-US"/>
          <a:t>"Độ trễ toàn hệ thống &lt; 100ms (Real-time)" =&gt; Cơ sở nào đưa ra con số này, cs so sánh với phương pháp đã có nào hay không?
"Mục tiêu đạt trên 85%" - Có so sánh với phương pháp nào đã có hay không? 
"Thiết kế dạng Module để thêm cảm biến âm thanh/gia tốc sau này.​" Vì sao cần thêm cảm biến âm thanh, gia tốc</a:t>
        </a:r>
      </a:p>
    </p188:txBody>
  </p188:cm>
</p188:cmLst>
</file>

<file path=ppt/comments/modernComment_117_467E630A.xml><?xml version="1.0" encoding="utf-8"?>
<p188:cmLst xmlns:a="http://schemas.openxmlformats.org/drawingml/2006/main" xmlns:r="http://schemas.openxmlformats.org/officeDocument/2006/relationships" xmlns:p188="http://schemas.microsoft.com/office/powerpoint/2018/8/main">
  <p188:cm id="{2D0EFDE4-59A7-4357-9BED-31557B8F730D}" authorId="{BD0196A0-FC60-EDA9-76B5-EBFC1CF0C677}" created="2026-03-12T16:34:43.402">
    <ac:deMkLst xmlns:ac="http://schemas.microsoft.com/office/drawing/2013/main/command">
      <pc:docMk xmlns:pc="http://schemas.microsoft.com/office/powerpoint/2013/main/command"/>
      <pc:sldMk xmlns:pc="http://schemas.microsoft.com/office/powerpoint/2013/main/command" cId="1182688010" sldId="279"/>
      <ac:spMk id="6" creationId="{A425CAB6-B4B7-C720-29B5-A110CD40DBE7}"/>
    </ac:deMkLst>
    <p188:txBody>
      <a:bodyPr/>
      <a:lstStyle/>
      <a:p>
        <a:r>
          <a:rPr lang="en-US"/>
          <a:t>Đã có một số ý tìm hiểu nhưng chưa đủ, chưa đủ cơ sở lý thuyết</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3/13/2026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3/13/2026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3/13/2026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05_3D1DAAB.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0E_4FFADCD8.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15_AC9219A7.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6_F9CDD18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7_467E630A.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545532" y="2322244"/>
            <a:ext cx="7077439" cy="1434096"/>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000" err="1">
                <a:latin typeface="Times New Roman"/>
                <a:ea typeface="Lato"/>
                <a:cs typeface="Times New Roman"/>
              </a:rPr>
              <a:t>Hệ</a:t>
            </a:r>
            <a:r>
              <a:rPr lang="en-US" sz="3000">
                <a:latin typeface="Times New Roman"/>
                <a:ea typeface="Lato"/>
                <a:cs typeface="Times New Roman"/>
              </a:rPr>
              <a:t> </a:t>
            </a:r>
            <a:r>
              <a:rPr lang="en-US" sz="3000" err="1">
                <a:latin typeface="Times New Roman"/>
                <a:ea typeface="Lato"/>
                <a:cs typeface="Times New Roman"/>
              </a:rPr>
              <a:t>thống</a:t>
            </a:r>
            <a:r>
              <a:rPr lang="en-US" sz="3000">
                <a:latin typeface="Times New Roman"/>
                <a:ea typeface="Lato"/>
                <a:cs typeface="Times New Roman"/>
              </a:rPr>
              <a:t> </a:t>
            </a:r>
            <a:r>
              <a:rPr lang="en-US" sz="3000" err="1">
                <a:latin typeface="Times New Roman"/>
                <a:ea typeface="Lato"/>
                <a:cs typeface="Times New Roman"/>
              </a:rPr>
              <a:t>giám</a:t>
            </a:r>
            <a:r>
              <a:rPr lang="en-US" sz="3000">
                <a:latin typeface="Times New Roman"/>
                <a:ea typeface="Lato"/>
                <a:cs typeface="Times New Roman"/>
              </a:rPr>
              <a:t> </a:t>
            </a:r>
            <a:r>
              <a:rPr lang="en-US" sz="3000" err="1">
                <a:latin typeface="Times New Roman"/>
                <a:ea typeface="Lato"/>
                <a:cs typeface="Times New Roman"/>
              </a:rPr>
              <a:t>sát</a:t>
            </a:r>
            <a:r>
              <a:rPr lang="en-US" sz="3000">
                <a:latin typeface="Times New Roman"/>
                <a:ea typeface="Lato"/>
                <a:cs typeface="Times New Roman"/>
              </a:rPr>
              <a:t> </a:t>
            </a:r>
            <a:r>
              <a:rPr lang="en-US" sz="3000" err="1">
                <a:latin typeface="Times New Roman"/>
                <a:ea typeface="Lato"/>
                <a:cs typeface="Times New Roman"/>
              </a:rPr>
              <a:t>và</a:t>
            </a:r>
            <a:r>
              <a:rPr lang="en-US" sz="3000">
                <a:latin typeface="Times New Roman"/>
                <a:ea typeface="Lato"/>
                <a:cs typeface="Times New Roman"/>
              </a:rPr>
              <a:t> </a:t>
            </a:r>
            <a:r>
              <a:rPr lang="en-US" sz="3000" err="1">
                <a:latin typeface="Times New Roman"/>
                <a:ea typeface="Lato"/>
                <a:cs typeface="Times New Roman"/>
              </a:rPr>
              <a:t>cảnh</a:t>
            </a:r>
            <a:r>
              <a:rPr lang="en-US" sz="3000">
                <a:latin typeface="Times New Roman"/>
                <a:ea typeface="Lato"/>
                <a:cs typeface="Times New Roman"/>
              </a:rPr>
              <a:t> </a:t>
            </a:r>
            <a:r>
              <a:rPr lang="en-US" sz="3000" err="1">
                <a:latin typeface="Times New Roman"/>
                <a:ea typeface="Lato"/>
                <a:cs typeface="Times New Roman"/>
              </a:rPr>
              <a:t>báo</a:t>
            </a:r>
            <a:r>
              <a:rPr lang="en-US" sz="3000">
                <a:latin typeface="Times New Roman"/>
                <a:ea typeface="Lato"/>
                <a:cs typeface="Times New Roman"/>
              </a:rPr>
              <a:t> </a:t>
            </a:r>
            <a:r>
              <a:rPr lang="en-US" sz="3000" err="1">
                <a:latin typeface="Times New Roman"/>
                <a:ea typeface="Lato"/>
                <a:cs typeface="Times New Roman"/>
              </a:rPr>
              <a:t>sớm</a:t>
            </a:r>
            <a:r>
              <a:rPr lang="en-US" sz="3000">
                <a:latin typeface="Times New Roman"/>
                <a:ea typeface="Lato"/>
                <a:cs typeface="Times New Roman"/>
              </a:rPr>
              <a:t> </a:t>
            </a:r>
            <a:r>
              <a:rPr lang="en-US" sz="3000" err="1">
                <a:latin typeface="Times New Roman"/>
                <a:ea typeface="Lato"/>
                <a:cs typeface="Times New Roman"/>
              </a:rPr>
              <a:t>bệnh</a:t>
            </a:r>
            <a:r>
              <a:rPr lang="en-US" sz="3000">
                <a:latin typeface="Times New Roman"/>
                <a:ea typeface="Lato"/>
                <a:cs typeface="Times New Roman"/>
              </a:rPr>
              <a:t> Parkinson </a:t>
            </a:r>
            <a:r>
              <a:rPr lang="en-US" sz="3000" err="1">
                <a:latin typeface="Times New Roman"/>
                <a:ea typeface="Lato"/>
                <a:cs typeface="Times New Roman"/>
              </a:rPr>
              <a:t>dựa</a:t>
            </a:r>
            <a:r>
              <a:rPr lang="en-US" sz="3000">
                <a:latin typeface="Times New Roman"/>
                <a:ea typeface="Lato"/>
                <a:cs typeface="Times New Roman"/>
              </a:rPr>
              <a:t> </a:t>
            </a:r>
            <a:r>
              <a:rPr lang="en-US" sz="3000" err="1">
                <a:latin typeface="Times New Roman"/>
                <a:ea typeface="Lato"/>
                <a:cs typeface="Times New Roman"/>
              </a:rPr>
              <a:t>trên</a:t>
            </a:r>
            <a:r>
              <a:rPr lang="en-US" sz="3000">
                <a:latin typeface="Times New Roman"/>
                <a:ea typeface="Lato"/>
                <a:cs typeface="Times New Roman"/>
              </a:rPr>
              <a:t> </a:t>
            </a:r>
            <a:r>
              <a:rPr lang="en-US" sz="3000" err="1">
                <a:latin typeface="Times New Roman"/>
                <a:ea typeface="Lato"/>
                <a:cs typeface="Times New Roman"/>
              </a:rPr>
              <a:t>dữ</a:t>
            </a:r>
            <a:r>
              <a:rPr lang="en-US" sz="3000">
                <a:latin typeface="Times New Roman"/>
                <a:ea typeface="Lato"/>
                <a:cs typeface="Times New Roman"/>
              </a:rPr>
              <a:t> </a:t>
            </a:r>
            <a:r>
              <a:rPr lang="en-US" sz="3000" err="1">
                <a:latin typeface="Times New Roman"/>
                <a:ea typeface="Lato"/>
                <a:cs typeface="Times New Roman"/>
              </a:rPr>
              <a:t>liệu</a:t>
            </a:r>
            <a:r>
              <a:rPr lang="en-US" sz="3000">
                <a:latin typeface="Times New Roman"/>
                <a:ea typeface="Lato"/>
                <a:cs typeface="Times New Roman"/>
              </a:rPr>
              <a:t> Camera</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78665"/>
            <a:ext cx="7817351" cy="193105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indent="171450"/>
            <a:r>
              <a:rPr lang="en-US" sz="2000" b="0" err="1">
                <a:latin typeface="Times New Roman"/>
                <a:ea typeface="Lato"/>
                <a:cs typeface="Times New Roman"/>
              </a:rPr>
              <a:t>Giảng</a:t>
            </a:r>
            <a:r>
              <a:rPr lang="en-US" sz="2000" b="0">
                <a:latin typeface="Times New Roman"/>
                <a:ea typeface="Lato"/>
                <a:cs typeface="Times New Roman"/>
              </a:rPr>
              <a:t> </a:t>
            </a:r>
            <a:r>
              <a:rPr lang="en-US" sz="2000" b="0" err="1">
                <a:latin typeface="Times New Roman"/>
                <a:ea typeface="Lato"/>
                <a:cs typeface="Times New Roman"/>
              </a:rPr>
              <a:t>viên</a:t>
            </a:r>
            <a:r>
              <a:rPr lang="en-US" sz="2000" b="0">
                <a:latin typeface="Times New Roman"/>
                <a:ea typeface="Lato"/>
                <a:cs typeface="Times New Roman"/>
              </a:rPr>
              <a:t> </a:t>
            </a:r>
            <a:r>
              <a:rPr lang="en-US" sz="2000" b="0" err="1">
                <a:latin typeface="Times New Roman"/>
                <a:ea typeface="Lato"/>
                <a:cs typeface="Times New Roman"/>
              </a:rPr>
              <a:t>hướng</a:t>
            </a:r>
            <a:r>
              <a:rPr lang="en-US" sz="2000" b="0">
                <a:latin typeface="Times New Roman"/>
                <a:ea typeface="Lato"/>
                <a:cs typeface="Times New Roman"/>
              </a:rPr>
              <a:t> </a:t>
            </a:r>
            <a:r>
              <a:rPr lang="en-US" sz="2000" b="0" err="1">
                <a:latin typeface="Times New Roman"/>
                <a:ea typeface="Lato"/>
                <a:cs typeface="Times New Roman"/>
              </a:rPr>
              <a:t>dẫn</a:t>
            </a:r>
            <a:r>
              <a:rPr lang="en-US" sz="2000" b="0">
                <a:latin typeface="Times New Roman"/>
                <a:ea typeface="Lato"/>
                <a:cs typeface="Times New Roman"/>
              </a:rPr>
              <a:t>: TS. Phạm Thị </a:t>
            </a:r>
            <a:r>
              <a:rPr lang="en-US" sz="2000" b="0" err="1">
                <a:latin typeface="Times New Roman"/>
                <a:ea typeface="Lato"/>
                <a:cs typeface="Times New Roman"/>
              </a:rPr>
              <a:t>Nhẫn</a:t>
            </a:r>
            <a:endParaRPr lang="en-US" sz="2000" b="0">
              <a:latin typeface="Times New Roman"/>
              <a:ea typeface="Lato"/>
              <a:cs typeface="Times New Roman"/>
            </a:endParaRPr>
          </a:p>
          <a:p>
            <a:pPr indent="171450"/>
            <a:endParaRPr lang="en-US" sz="2000" b="0">
              <a:latin typeface="Times New Roman"/>
              <a:ea typeface="Lato"/>
              <a:cs typeface="Times New Roman"/>
            </a:endParaRPr>
          </a:p>
          <a:p>
            <a:pPr indent="171450"/>
            <a:r>
              <a:rPr lang="en-US" sz="2000" b="0" err="1">
                <a:latin typeface="Times New Roman"/>
                <a:ea typeface="Lato"/>
                <a:cs typeface="Times New Roman"/>
              </a:rPr>
              <a:t>Nhóm</a:t>
            </a:r>
            <a:r>
              <a:rPr lang="en-US" sz="2000" b="0">
                <a:latin typeface="Times New Roman"/>
                <a:ea typeface="Lato"/>
                <a:cs typeface="Times New Roman"/>
              </a:rPr>
              <a:t> </a:t>
            </a:r>
            <a:r>
              <a:rPr lang="en-US" sz="2000" b="0" err="1">
                <a:latin typeface="Times New Roman"/>
                <a:ea typeface="Lato"/>
                <a:cs typeface="Times New Roman"/>
              </a:rPr>
              <a:t>sinh</a:t>
            </a:r>
            <a:r>
              <a:rPr lang="en-US" sz="2000" b="0">
                <a:latin typeface="Times New Roman"/>
                <a:ea typeface="Lato"/>
                <a:cs typeface="Times New Roman"/>
              </a:rPr>
              <a:t> </a:t>
            </a:r>
            <a:r>
              <a:rPr lang="en-US" sz="2000" b="0" err="1">
                <a:latin typeface="Times New Roman"/>
                <a:ea typeface="Lato"/>
                <a:cs typeface="Times New Roman"/>
              </a:rPr>
              <a:t>viên</a:t>
            </a:r>
            <a:r>
              <a:rPr lang="en-US" sz="2000" b="0">
                <a:latin typeface="Times New Roman"/>
                <a:ea typeface="Lato"/>
                <a:cs typeface="Times New Roman"/>
              </a:rPr>
              <a:t> </a:t>
            </a:r>
            <a:r>
              <a:rPr lang="en-US" sz="2000" b="0" err="1">
                <a:latin typeface="Times New Roman"/>
                <a:ea typeface="Lato"/>
                <a:cs typeface="Times New Roman"/>
              </a:rPr>
              <a:t>thực</a:t>
            </a:r>
            <a:r>
              <a:rPr lang="en-US" sz="2000" b="0">
                <a:latin typeface="Times New Roman"/>
                <a:ea typeface="Lato"/>
                <a:cs typeface="Times New Roman"/>
              </a:rPr>
              <a:t> </a:t>
            </a:r>
            <a:r>
              <a:rPr lang="en-US" sz="2000" b="0" err="1">
                <a:latin typeface="Times New Roman"/>
                <a:ea typeface="Lato"/>
                <a:cs typeface="Times New Roman"/>
              </a:rPr>
              <a:t>hiện</a:t>
            </a:r>
            <a:r>
              <a:rPr lang="en-US" sz="2000" b="0">
                <a:latin typeface="Times New Roman"/>
                <a:ea typeface="Lato"/>
                <a:cs typeface="Times New Roman"/>
              </a:rPr>
              <a:t>:  Dương Văn Bảo - 20233997</a:t>
            </a:r>
          </a:p>
          <a:p>
            <a:pPr indent="3028950"/>
            <a:r>
              <a:rPr lang="en-US" sz="2000" b="0">
                <a:latin typeface="Times New Roman"/>
                <a:ea typeface="Lato"/>
                <a:cs typeface="Times New Roman"/>
              </a:rPr>
              <a:t>Phạm Tuấn Kiệt - 20234017</a:t>
            </a:r>
          </a:p>
          <a:p>
            <a:endParaRPr lang="en-US" sz="2000" b="0">
              <a:latin typeface="Times New Roman"/>
              <a:ea typeface="Lato"/>
              <a:cs typeface="Times New Roman"/>
            </a:endParaRPr>
          </a:p>
          <a:p>
            <a:r>
              <a:rPr lang="en-US" sz="2000" b="0">
                <a:latin typeface="Times New Roman"/>
                <a:ea typeface="Lato"/>
                <a:cs typeface="Times New Roman"/>
              </a:rPr>
              <a:t>  </a:t>
            </a:r>
          </a:p>
          <a:p>
            <a:r>
              <a:rPr lang="en-US" sz="2000" b="0">
                <a:latin typeface="Times New Roman"/>
                <a:ea typeface="Lato"/>
                <a:cs typeface="Times New Roman"/>
              </a:rPr>
              <a:t> </a:t>
            </a:r>
          </a:p>
          <a:p>
            <a:endParaRPr lang="en-US" sz="2000" b="0">
              <a:latin typeface="Times New Roman"/>
              <a:ea typeface="Lato"/>
              <a:cs typeface="Times New Roman"/>
            </a:endParaRPr>
          </a:p>
          <a:p>
            <a:endParaRPr lang="en-US" sz="2000" b="0">
              <a:latin typeface="Times New Roman"/>
              <a:cs typeface="Times New Roman"/>
            </a:endParaRPr>
          </a:p>
          <a:p>
            <a:endParaRPr lang="en-US" sz="2000" b="0">
              <a:latin typeface="Times New Roman"/>
              <a:cs typeface="Times New Roman"/>
            </a:endParaRPr>
          </a:p>
          <a:p>
            <a:endParaRPr lang="en-US" sz="2000" b="0">
              <a:latin typeface="Times New Roman"/>
              <a:cs typeface="Times New Roman"/>
            </a:endParaRPr>
          </a:p>
          <a:p>
            <a:endParaRPr lang="en-US" sz="2000" b="0">
              <a:latin typeface="Times New Roman"/>
              <a:cs typeface="Times New Roman"/>
            </a:endParaRP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4BF42-FF2B-4DB3-0D15-89697A0F0216}"/>
            </a:ext>
          </a:extLst>
        </p:cNvPr>
        <p:cNvGrpSpPr/>
        <p:nvPr/>
      </p:nvGrpSpPr>
      <p:grpSpPr>
        <a:xfrm>
          <a:off x="0" y="0"/>
          <a:ext cx="0" cy="0"/>
          <a:chOff x="0" y="0"/>
          <a:chExt cx="0" cy="0"/>
        </a:xfrm>
      </p:grpSpPr>
      <p:pic>
        <p:nvPicPr>
          <p:cNvPr id="10" name="Picture 3">
            <a:extLst>
              <a:ext uri="{FF2B5EF4-FFF2-40B4-BE49-F238E27FC236}">
                <a16:creationId xmlns:a16="http://schemas.microsoft.com/office/drawing/2014/main" id="{19F92AD0-8677-674A-764D-5F8A6097FB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06FF110F-6AB5-0120-7CD8-347D697BFCAF}"/>
              </a:ext>
            </a:extLst>
          </p:cNvPr>
          <p:cNvSpPr txBox="1">
            <a:spLocks/>
          </p:cNvSpPr>
          <p:nvPr/>
        </p:nvSpPr>
        <p:spPr>
          <a:xfrm>
            <a:off x="1034263" y="2863527"/>
            <a:ext cx="7077439" cy="1434096"/>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4000">
                <a:latin typeface="Times New Roman"/>
                <a:ea typeface="Lato"/>
                <a:cs typeface="Times New Roman"/>
              </a:rPr>
              <a:t>Báo </a:t>
            </a:r>
            <a:r>
              <a:rPr lang="en-US" sz="4000" err="1">
                <a:latin typeface="Times New Roman"/>
                <a:ea typeface="Lato"/>
                <a:cs typeface="Times New Roman"/>
              </a:rPr>
              <a:t>cáo</a:t>
            </a:r>
            <a:r>
              <a:rPr lang="en-US" sz="4000">
                <a:latin typeface="Times New Roman"/>
                <a:ea typeface="Lato"/>
                <a:cs typeface="Times New Roman"/>
              </a:rPr>
              <a:t> </a:t>
            </a:r>
            <a:r>
              <a:rPr lang="en-US" sz="4000" err="1">
                <a:latin typeface="Times New Roman"/>
                <a:ea typeface="Lato"/>
                <a:cs typeface="Times New Roman"/>
              </a:rPr>
              <a:t>tiến</a:t>
            </a:r>
            <a:r>
              <a:rPr lang="en-US" sz="4000">
                <a:latin typeface="Times New Roman"/>
                <a:ea typeface="Lato"/>
                <a:cs typeface="Times New Roman"/>
              </a:rPr>
              <a:t> </a:t>
            </a:r>
            <a:r>
              <a:rPr lang="en-US" sz="4000" err="1">
                <a:latin typeface="Times New Roman"/>
                <a:ea typeface="Lato"/>
                <a:cs typeface="Times New Roman"/>
              </a:rPr>
              <a:t>độ</a:t>
            </a:r>
            <a:endParaRPr lang="en-US" sz="4000">
              <a:latin typeface="Times New Roman"/>
              <a:cs typeface="Times New Roman"/>
            </a:endParaRPr>
          </a:p>
          <a:p>
            <a:pPr algn="ctr"/>
            <a:r>
              <a:rPr lang="en-US" sz="4000" err="1">
                <a:latin typeface="Times New Roman"/>
                <a:ea typeface="Lato"/>
                <a:cs typeface="Times New Roman"/>
              </a:rPr>
              <a:t>Tuần</a:t>
            </a:r>
            <a:r>
              <a:rPr lang="en-US" sz="4000">
                <a:latin typeface="Times New Roman"/>
                <a:ea typeface="Lato"/>
                <a:cs typeface="Times New Roman"/>
              </a:rPr>
              <a:t> 1</a:t>
            </a:r>
          </a:p>
        </p:txBody>
      </p:sp>
      <p:sp>
        <p:nvSpPr>
          <p:cNvPr id="12" name="Title 6">
            <a:extLst>
              <a:ext uri="{FF2B5EF4-FFF2-40B4-BE49-F238E27FC236}">
                <a16:creationId xmlns:a16="http://schemas.microsoft.com/office/drawing/2014/main" id="{B166D605-AF2E-6D53-C96C-9E41BE833CC7}"/>
              </a:ext>
            </a:extLst>
          </p:cNvPr>
          <p:cNvSpPr txBox="1">
            <a:spLocks/>
          </p:cNvSpPr>
          <p:nvPr/>
        </p:nvSpPr>
        <p:spPr>
          <a:xfrm>
            <a:off x="413012" y="3578665"/>
            <a:ext cx="7817351" cy="193105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indent="171450"/>
            <a:endParaRPr lang="en-US" sz="2000" b="0">
              <a:latin typeface="Times New Roman"/>
              <a:ea typeface="Lato"/>
              <a:cs typeface="Times New Roman"/>
            </a:endParaRPr>
          </a:p>
          <a:p>
            <a:r>
              <a:rPr lang="en-US" sz="2000" b="0">
                <a:latin typeface="Times New Roman"/>
                <a:ea typeface="Lato"/>
                <a:cs typeface="Times New Roman"/>
              </a:rPr>
              <a:t>  </a:t>
            </a:r>
          </a:p>
          <a:p>
            <a:r>
              <a:rPr lang="en-US" sz="2000" b="0">
                <a:latin typeface="Times New Roman"/>
                <a:ea typeface="Lato"/>
                <a:cs typeface="Times New Roman"/>
              </a:rPr>
              <a:t> </a:t>
            </a:r>
          </a:p>
          <a:p>
            <a:endParaRPr lang="en-US" sz="2000" b="0">
              <a:latin typeface="Times New Roman"/>
              <a:ea typeface="Lato"/>
              <a:cs typeface="Times New Roman"/>
            </a:endParaRPr>
          </a:p>
          <a:p>
            <a:endParaRPr lang="en-US" sz="2000" b="0">
              <a:latin typeface="Times New Roman"/>
              <a:cs typeface="Times New Roman"/>
            </a:endParaRPr>
          </a:p>
          <a:p>
            <a:endParaRPr lang="en-US" sz="2000" b="0">
              <a:latin typeface="Times New Roman"/>
              <a:cs typeface="Times New Roman"/>
            </a:endParaRPr>
          </a:p>
          <a:p>
            <a:endParaRPr lang="en-US" sz="2000" b="0">
              <a:latin typeface="Times New Roman"/>
              <a:cs typeface="Times New Roman"/>
            </a:endParaRPr>
          </a:p>
          <a:p>
            <a:endParaRPr lang="en-US" sz="2000" b="0">
              <a:latin typeface="Times New Roman"/>
              <a:cs typeface="Times New Roman"/>
            </a:endParaRPr>
          </a:p>
        </p:txBody>
      </p:sp>
    </p:spTree>
    <p:extLst>
      <p:ext uri="{BB962C8B-B14F-4D97-AF65-F5344CB8AC3E}">
        <p14:creationId xmlns:p14="http://schemas.microsoft.com/office/powerpoint/2010/main" val="199320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4</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lIns="91440" tIns="45720" rIns="91440" bIns="45720" anchor="t"/>
          <a:lstStyle/>
          <a:p>
            <a:pPr marL="514350" indent="-514350">
              <a:buAutoNum type="romanUcPeriod"/>
            </a:pPr>
            <a:r>
              <a:rPr lang="en-US" sz="3000" err="1">
                <a:latin typeface="Times New Roman"/>
                <a:ea typeface="Calibri Light"/>
                <a:cs typeface="Times New Roman"/>
              </a:rPr>
              <a:t>Đặt</a:t>
            </a:r>
            <a:r>
              <a:rPr lang="en-US" sz="3000">
                <a:latin typeface="Times New Roman"/>
                <a:ea typeface="Calibri Light"/>
                <a:cs typeface="Times New Roman"/>
              </a:rPr>
              <a:t> </a:t>
            </a:r>
            <a:r>
              <a:rPr lang="en-US" sz="3000" err="1">
                <a:latin typeface="Times New Roman"/>
                <a:ea typeface="Calibri Light"/>
                <a:cs typeface="Times New Roman"/>
              </a:rPr>
              <a:t>vấn</a:t>
            </a:r>
            <a:r>
              <a:rPr lang="en-US" sz="3000">
                <a:latin typeface="Times New Roman"/>
                <a:ea typeface="Calibri Light"/>
                <a:cs typeface="Times New Roman"/>
              </a:rPr>
              <a:t> </a:t>
            </a:r>
            <a:r>
              <a:rPr lang="en-US" sz="3000" err="1">
                <a:latin typeface="Times New Roman"/>
                <a:ea typeface="Calibri Light"/>
                <a:cs typeface="Times New Roman"/>
              </a:rPr>
              <a:t>đề</a:t>
            </a:r>
            <a:endParaRPr lang="en-US" err="1"/>
          </a:p>
        </p:txBody>
      </p:sp>
      <p:sp>
        <p:nvSpPr>
          <p:cNvPr id="6" name="TextBox 5">
            <a:extLst>
              <a:ext uri="{FF2B5EF4-FFF2-40B4-BE49-F238E27FC236}">
                <a16:creationId xmlns:a16="http://schemas.microsoft.com/office/drawing/2014/main" id="{278CC172-DBA5-0DFB-BCFB-C89B34221EDD}"/>
              </a:ext>
            </a:extLst>
          </p:cNvPr>
          <p:cNvSpPr txBox="1"/>
          <p:nvPr/>
        </p:nvSpPr>
        <p:spPr>
          <a:xfrm>
            <a:off x="254051" y="1712491"/>
            <a:ext cx="8635895"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b="1">
                <a:latin typeface="Times New Roman" panose="02020603050405020304" pitchFamily="18" charset="0"/>
                <a:ea typeface="+mn-lt"/>
                <a:cs typeface="Times New Roman" panose="02020603050405020304" pitchFamily="18" charset="0"/>
              </a:rPr>
              <a:t>Who:</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Bệnh</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nhân</a:t>
            </a:r>
            <a:r>
              <a:rPr lang="en-US" sz="2000">
                <a:latin typeface="Times New Roman" panose="02020603050405020304" pitchFamily="18" charset="0"/>
                <a:ea typeface="+mn-lt"/>
                <a:cs typeface="Times New Roman" panose="02020603050405020304" pitchFamily="18" charset="0"/>
              </a:rPr>
              <a:t> Parkinson</a:t>
            </a:r>
            <a:r>
              <a:rPr lang="vi-VN" sz="2000">
                <a:latin typeface="Times New Roman" panose="02020603050405020304" pitchFamily="18" charset="0"/>
                <a:ea typeface="+mn-lt"/>
                <a:cs typeface="Times New Roman" panose="02020603050405020304" pitchFamily="18" charset="0"/>
              </a:rPr>
              <a:t>,</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người</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trên</a:t>
            </a:r>
            <a:r>
              <a:rPr lang="en-US" sz="2000">
                <a:latin typeface="Times New Roman" panose="02020603050405020304" pitchFamily="18" charset="0"/>
                <a:ea typeface="+mn-lt"/>
                <a:cs typeface="Times New Roman" panose="02020603050405020304" pitchFamily="18" charset="0"/>
              </a:rPr>
              <a:t> 50 </a:t>
            </a:r>
            <a:r>
              <a:rPr lang="en-US" sz="2000" err="1">
                <a:latin typeface="Times New Roman" panose="02020603050405020304" pitchFamily="18" charset="0"/>
                <a:ea typeface="+mn-lt"/>
                <a:cs typeface="Times New Roman" panose="02020603050405020304" pitchFamily="18" charset="0"/>
              </a:rPr>
              <a:t>tuổi</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và</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dân</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số</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già</a:t>
            </a:r>
            <a:r>
              <a:rPr lang="en-US" sz="2000">
                <a:latin typeface="Times New Roman" panose="02020603050405020304" pitchFamily="18" charset="0"/>
                <a:ea typeface="+mn-lt"/>
                <a:cs typeface="Times New Roman" panose="02020603050405020304" pitchFamily="18" charset="0"/>
              </a:rPr>
              <a:t> </a:t>
            </a:r>
            <a:r>
              <a:rPr lang="en-US" sz="2000" err="1">
                <a:latin typeface="Times New Roman" panose="02020603050405020304" pitchFamily="18" charset="0"/>
                <a:ea typeface="+mn-lt"/>
                <a:cs typeface="Times New Roman" panose="02020603050405020304" pitchFamily="18" charset="0"/>
              </a:rPr>
              <a:t>tại</a:t>
            </a:r>
            <a:r>
              <a:rPr lang="en-US" sz="2000">
                <a:latin typeface="Times New Roman" panose="02020603050405020304" pitchFamily="18" charset="0"/>
                <a:ea typeface="+mn-lt"/>
                <a:cs typeface="Times New Roman" panose="02020603050405020304" pitchFamily="18" charset="0"/>
              </a:rPr>
              <a:t> Việt Nam (12%).</a:t>
            </a:r>
            <a:endParaRPr lang="vi-VN" sz="2000">
              <a:latin typeface="Times New Roman" panose="02020603050405020304" pitchFamily="18" charset="0"/>
              <a:ea typeface="+mn-lt"/>
              <a:cs typeface="Times New Roman" panose="02020603050405020304" pitchFamily="18" charset="0"/>
            </a:endParaRPr>
          </a:p>
          <a:p>
            <a:pPr>
              <a:buFont typeface=""/>
              <a:buChar char="•"/>
            </a:pPr>
            <a:r>
              <a:rPr lang="vi-VN" b="1">
                <a:latin typeface="Times New Roman" panose="02020603050405020304" pitchFamily="18" charset="0"/>
                <a:cs typeface="Times New Roman" panose="02020603050405020304" pitchFamily="18" charset="0"/>
              </a:rPr>
              <a:t>What:</a:t>
            </a:r>
            <a:r>
              <a:rPr lang="vi-VN">
                <a:latin typeface="Times New Roman" panose="02020603050405020304" pitchFamily="18" charset="0"/>
                <a:cs typeface="Times New Roman" panose="02020603050405020304" pitchFamily="18" charset="0"/>
              </a:rPr>
              <a:t>Tầm soát sớm các triệu chứng vận động (run, chậm chạp) vốn thường bị bỏ qua ở giai đoạn đầu.</a:t>
            </a:r>
          </a:p>
          <a:p>
            <a:pPr>
              <a:buFont typeface=""/>
              <a:buChar char="•"/>
            </a:pPr>
            <a:r>
              <a:rPr lang="vi-VN" b="1">
                <a:latin typeface="Times New Roman" panose="02020603050405020304" pitchFamily="18" charset="0"/>
                <a:cs typeface="Times New Roman" panose="02020603050405020304" pitchFamily="18" charset="0"/>
              </a:rPr>
              <a:t>Where: </a:t>
            </a:r>
            <a:r>
              <a:rPr lang="en-US" err="1">
                <a:latin typeface="Times New Roman" panose="02020603050405020304" pitchFamily="18" charset="0"/>
                <a:cs typeface="Times New Roman" panose="02020603050405020304" pitchFamily="18" charset="0"/>
              </a:rPr>
              <a:t>Thực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ngay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tại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giảm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tải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các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bệnh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tuyến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a:t>
            </a:r>
            <a:endParaRPr lang="vi-VN">
              <a:latin typeface="Times New Roman" panose="02020603050405020304" pitchFamily="18" charset="0"/>
              <a:cs typeface="Times New Roman" panose="02020603050405020304" pitchFamily="18" charset="0"/>
            </a:endParaRPr>
          </a:p>
          <a:p>
            <a:pPr>
              <a:buFont typeface=""/>
              <a:buChar char="•"/>
            </a:pPr>
            <a:r>
              <a:rPr lang="vi-VN" b="1">
                <a:latin typeface="Times New Roman" panose="02020603050405020304" pitchFamily="18" charset="0"/>
                <a:cs typeface="Times New Roman" panose="02020603050405020304" pitchFamily="18" charset="0"/>
              </a:rPr>
              <a:t>When: </a:t>
            </a:r>
            <a:r>
              <a:rPr lang="vi-VN">
                <a:latin typeface="Times New Roman" panose="02020603050405020304" pitchFamily="18" charset="0"/>
                <a:cs typeface="Times New Roman" panose="02020603050405020304" pitchFamily="18" charset="0"/>
              </a:rPr>
              <a:t>Ngay khi có các dấu hiệu lâm sàng (trước khi </a:t>
            </a:r>
            <a:r>
              <a:rPr lang="vi-VN" b="1">
                <a:latin typeface="Times New Roman" panose="02020603050405020304" pitchFamily="18" charset="0"/>
                <a:cs typeface="Times New Roman" panose="02020603050405020304" pitchFamily="18" charset="0"/>
              </a:rPr>
              <a:t>60-80%</a:t>
            </a:r>
            <a:r>
              <a:rPr lang="vi-VN">
                <a:latin typeface="Times New Roman" panose="02020603050405020304" pitchFamily="18" charset="0"/>
                <a:cs typeface="Times New Roman" panose="02020603050405020304" pitchFamily="18" charset="0"/>
              </a:rPr>
              <a:t> neuron dopamine bị tổn thương).</a:t>
            </a:r>
          </a:p>
          <a:p>
            <a:pPr>
              <a:buFont typeface=""/>
              <a:buChar char="•"/>
            </a:pPr>
            <a:r>
              <a:rPr lang="vi-VN" b="1">
                <a:latin typeface="Times New Roman" panose="02020603050405020304" pitchFamily="18" charset="0"/>
                <a:cs typeface="Times New Roman" panose="02020603050405020304" pitchFamily="18" charset="0"/>
              </a:rPr>
              <a:t>Why: </a:t>
            </a:r>
            <a:r>
              <a:rPr lang="vi-VN">
                <a:latin typeface="Times New Roman" panose="02020603050405020304" pitchFamily="18" charset="0"/>
                <a:cs typeface="Times New Roman" panose="02020603050405020304" pitchFamily="18" charset="0"/>
              </a:rPr>
              <a:t>Chuẩn đoán hiện tại (MDS-UPDRS) còn chủ quan, tốn kém và khó tiếp cận sớm.</a:t>
            </a:r>
          </a:p>
          <a:p>
            <a:pPr>
              <a:buFont typeface=""/>
              <a:buChar char="•"/>
            </a:pPr>
            <a:r>
              <a:rPr lang="vi-VN" b="1">
                <a:latin typeface="Times New Roman" panose="02020603050405020304" pitchFamily="18" charset="0"/>
                <a:cs typeface="Times New Roman" panose="02020603050405020304" pitchFamily="18" charset="0"/>
              </a:rPr>
              <a:t>How: </a:t>
            </a:r>
            <a:r>
              <a:rPr lang="vi-VN">
                <a:latin typeface="Times New Roman" panose="02020603050405020304" pitchFamily="18" charset="0"/>
                <a:cs typeface="Times New Roman" panose="02020603050405020304" pitchFamily="18" charset="0"/>
              </a:rPr>
              <a:t>Sử dụng Camera và AI để định lượng hóa các chỉ số vận động.</a:t>
            </a:r>
          </a:p>
        </p:txBody>
      </p:sp>
      <p:sp>
        <p:nvSpPr>
          <p:cNvPr id="3" name="Rectangle 1">
            <a:extLst>
              <a:ext uri="{FF2B5EF4-FFF2-40B4-BE49-F238E27FC236}">
                <a16:creationId xmlns:a16="http://schemas.microsoft.com/office/drawing/2014/main" id="{96733C56-1A7E-D54C-9F5F-8C12F43F116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1800" b="0" i="0" u="none" strike="noStrike" cap="none" normalizeH="0" baseline="0">
              <a:ln>
                <a:noFill/>
              </a:ln>
              <a:effectLst/>
              <a:latin typeface="Arial" panose="020B0604020202020204" pitchFamily="34" charset="0"/>
              <a:cs typeface="Arial"/>
            </a:endParaRPr>
          </a:p>
        </p:txBody>
      </p:sp>
      <p:pic>
        <p:nvPicPr>
          <p:cNvPr id="7" name="Picture 6" descr="A person walking with text on it&#10;&#10;AI-generated content may be incorrect.">
            <a:extLst>
              <a:ext uri="{FF2B5EF4-FFF2-40B4-BE49-F238E27FC236}">
                <a16:creationId xmlns:a16="http://schemas.microsoft.com/office/drawing/2014/main" id="{E9BAE49E-9B96-0096-82A0-6B62D7ACB305}"/>
              </a:ext>
            </a:extLst>
          </p:cNvPr>
          <p:cNvPicPr>
            <a:picLocks noChangeAspect="1"/>
          </p:cNvPicPr>
          <p:nvPr/>
        </p:nvPicPr>
        <p:blipFill>
          <a:blip r:embed="rId3"/>
          <a:stretch>
            <a:fillRect/>
          </a:stretch>
        </p:blipFill>
        <p:spPr>
          <a:xfrm>
            <a:off x="6858865" y="3743757"/>
            <a:ext cx="2034888" cy="2581275"/>
          </a:xfrm>
          <a:prstGeom prst="rect">
            <a:avLst/>
          </a:prstGeom>
        </p:spPr>
      </p:pic>
    </p:spTree>
    <p:extLst>
      <p:ext uri="{BB962C8B-B14F-4D97-AF65-F5344CB8AC3E}">
        <p14:creationId xmlns:p14="http://schemas.microsoft.com/office/powerpoint/2010/main" val="64084651"/>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lIns="91440" tIns="45720" rIns="91440" bIns="45720" anchor="t"/>
          <a:lstStyle/>
          <a:p>
            <a:r>
              <a:rPr lang="vi-VN">
                <a:latin typeface="Times New Roman"/>
                <a:cs typeface="Times New Roman"/>
              </a:rPr>
              <a:t>II.	</a:t>
            </a:r>
            <a:r>
              <a:rPr lang="vi-VN" sz="3000">
                <a:latin typeface="+mj-lt"/>
                <a:cs typeface="Times New Roman"/>
              </a:rPr>
              <a:t>Mục tiêu và giải pháp kỹ thuật</a:t>
            </a:r>
            <a:endParaRPr lang="en-US" sz="3000" b="0">
              <a:latin typeface="+mj-lt"/>
              <a:cs typeface="Times New Roman"/>
            </a:endParaRPr>
          </a:p>
        </p:txBody>
      </p:sp>
      <p:sp>
        <p:nvSpPr>
          <p:cNvPr id="6" name="TextBox 5">
            <a:extLst>
              <a:ext uri="{FF2B5EF4-FFF2-40B4-BE49-F238E27FC236}">
                <a16:creationId xmlns:a16="http://schemas.microsoft.com/office/drawing/2014/main" id="{D438DA8C-12CD-067C-F3CC-906DB6434732}"/>
              </a:ext>
            </a:extLst>
          </p:cNvPr>
          <p:cNvSpPr txBox="1"/>
          <p:nvPr/>
        </p:nvSpPr>
        <p:spPr>
          <a:xfrm>
            <a:off x="490784" y="1335247"/>
            <a:ext cx="843399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b="1">
                <a:latin typeface="Times New Roman"/>
                <a:cs typeface="Times New Roman"/>
              </a:rPr>
              <a:t>Mục tiêu: </a:t>
            </a:r>
            <a:r>
              <a:rPr lang="vi-VN">
                <a:latin typeface="Times New Roman"/>
                <a:cs typeface="Times New Roman"/>
              </a:rPr>
              <a:t>Xây dựng hệ thống giám sát thời gian thực trên Computer Vision.</a:t>
            </a:r>
            <a:endParaRPr lang="en-US"/>
          </a:p>
          <a:p>
            <a:r>
              <a:rPr lang="vi-VN" b="1">
                <a:latin typeface="Times New Roman"/>
                <a:cs typeface="Times New Roman"/>
              </a:rPr>
              <a:t>Phương pháp: </a:t>
            </a:r>
          </a:p>
          <a:p>
            <a:pPr marL="742950" lvl="1" indent="-285750">
              <a:buFont typeface="Arial" panose="020B0604020202020204" pitchFamily="34" charset="0"/>
              <a:buChar char="•"/>
            </a:pPr>
            <a:r>
              <a:rPr lang="vi-VN">
                <a:latin typeface="Times New Roman"/>
                <a:cs typeface="Times New Roman"/>
              </a:rPr>
              <a:t>Trích xuất điểm mấu chốt (Landmarks) trên mặt, tay.</a:t>
            </a:r>
          </a:p>
          <a:p>
            <a:pPr marL="742950" lvl="1" indent="-285750">
              <a:buFont typeface="Arial" panose="020B0604020202020204" pitchFamily="34" charset="0"/>
              <a:buChar char="•"/>
            </a:pPr>
            <a:r>
              <a:rPr lang="vi-VN">
                <a:latin typeface="Times New Roman"/>
                <a:cs typeface="Times New Roman"/>
              </a:rPr>
              <a:t>Sử dụng bộ lọc DSP để tính tần số run (4-6 Hz), biên độ vỗ ngón tay.</a:t>
            </a:r>
          </a:p>
          <a:p>
            <a:pPr marL="742950" lvl="1" indent="-285750">
              <a:buFont typeface="Arial" panose="020B0604020202020204" pitchFamily="34" charset="0"/>
              <a:buChar char="•"/>
            </a:pPr>
            <a:r>
              <a:rPr lang="vi-VN">
                <a:latin typeface="Times New Roman"/>
                <a:cs typeface="Times New Roman"/>
              </a:rPr>
              <a:t>Phân loại bằng mô hình AI (Bình thường &amp; Cảnh báo sớm)</a:t>
            </a:r>
          </a:p>
        </p:txBody>
      </p:sp>
      <p:pic>
        <p:nvPicPr>
          <p:cNvPr id="3" name="Picture 2">
            <a:extLst>
              <a:ext uri="{FF2B5EF4-FFF2-40B4-BE49-F238E27FC236}">
                <a16:creationId xmlns:a16="http://schemas.microsoft.com/office/drawing/2014/main" id="{D72B5CD0-D5AC-3544-7CFE-4E304C6DAD59}"/>
              </a:ext>
            </a:extLst>
          </p:cNvPr>
          <p:cNvPicPr>
            <a:picLocks noChangeAspect="1"/>
          </p:cNvPicPr>
          <p:nvPr/>
        </p:nvPicPr>
        <p:blipFill>
          <a:blip r:embed="rId3"/>
          <a:stretch>
            <a:fillRect/>
          </a:stretch>
        </p:blipFill>
        <p:spPr>
          <a:xfrm>
            <a:off x="4230399" y="2807277"/>
            <a:ext cx="4153766" cy="3165764"/>
          </a:xfrm>
          <a:prstGeom prst="rect">
            <a:avLst/>
          </a:prstGeom>
        </p:spPr>
      </p:pic>
    </p:spTree>
    <p:extLst>
      <p:ext uri="{BB962C8B-B14F-4D97-AF65-F5344CB8AC3E}">
        <p14:creationId xmlns:p14="http://schemas.microsoft.com/office/powerpoint/2010/main" val="134184060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AF874-CDEE-0FCC-F240-0A295BBA61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4ED78C-34E6-EDB9-CAD7-20F35661CD83}"/>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5" name="Title 4">
            <a:extLst>
              <a:ext uri="{FF2B5EF4-FFF2-40B4-BE49-F238E27FC236}">
                <a16:creationId xmlns:a16="http://schemas.microsoft.com/office/drawing/2014/main" id="{9B259D10-FBD2-0E78-028C-E75EE206F7ED}"/>
              </a:ext>
            </a:extLst>
          </p:cNvPr>
          <p:cNvSpPr>
            <a:spLocks noGrp="1"/>
          </p:cNvSpPr>
          <p:nvPr>
            <p:ph type="title"/>
          </p:nvPr>
        </p:nvSpPr>
        <p:spPr/>
        <p:txBody>
          <a:bodyPr lIns="91440" tIns="45720" rIns="91440" bIns="45720" anchor="t"/>
          <a:lstStyle/>
          <a:p>
            <a:r>
              <a:rPr lang="vi-VN">
                <a:latin typeface="Times New Roman"/>
                <a:cs typeface="Times New Roman"/>
              </a:rPr>
              <a:t>III.	Phân tích yêu cầu hệ thống (Chức năng)</a:t>
            </a:r>
            <a:endParaRPr lang="en-US" sz="3000" b="0">
              <a:latin typeface="+mj-lt"/>
              <a:cs typeface="Times New Roman"/>
            </a:endParaRPr>
          </a:p>
        </p:txBody>
      </p:sp>
      <p:sp>
        <p:nvSpPr>
          <p:cNvPr id="6" name="TextBox 5">
            <a:extLst>
              <a:ext uri="{FF2B5EF4-FFF2-40B4-BE49-F238E27FC236}">
                <a16:creationId xmlns:a16="http://schemas.microsoft.com/office/drawing/2014/main" id="{44E56BA2-02F0-EF17-48E8-B5D418BF8D67}"/>
              </a:ext>
            </a:extLst>
          </p:cNvPr>
          <p:cNvSpPr txBox="1"/>
          <p:nvPr/>
        </p:nvSpPr>
        <p:spPr>
          <a:xfrm>
            <a:off x="674141" y="1467399"/>
            <a:ext cx="84339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vi-VN" b="1">
                <a:latin typeface="Times New Roman"/>
                <a:cs typeface="Times New Roman"/>
              </a:rPr>
              <a:t>Thu nhận: </a:t>
            </a:r>
            <a:r>
              <a:rPr lang="vi-VN">
                <a:latin typeface="Times New Roman"/>
                <a:cs typeface="Times New Roman"/>
              </a:rPr>
              <a:t>Video 720p, tối thiểu 30 fps.</a:t>
            </a:r>
          </a:p>
          <a:p>
            <a:pPr marL="285750" indent="-285750">
              <a:buFont typeface="Arial" panose="020B0604020202020204" pitchFamily="34" charset="0"/>
              <a:buChar char="•"/>
            </a:pPr>
            <a:r>
              <a:rPr lang="vi-VN" b="1">
                <a:latin typeface="Times New Roman"/>
                <a:cs typeface="Times New Roman"/>
              </a:rPr>
              <a:t>Xử lí: </a:t>
            </a:r>
            <a:r>
              <a:rPr lang="vi-VN">
                <a:latin typeface="Times New Roman"/>
                <a:cs typeface="Times New Roman"/>
              </a:rPr>
              <a:t>Tiền xử lý hình ảnh &amp; Trích xuất tọa độ xương.</a:t>
            </a:r>
          </a:p>
          <a:p>
            <a:pPr marL="285750" indent="-285750">
              <a:buFont typeface="Arial" panose="020B0604020202020204" pitchFamily="34" charset="0"/>
              <a:buChar char="•"/>
            </a:pPr>
            <a:r>
              <a:rPr lang="vi-VN" b="1">
                <a:latin typeface="Times New Roman"/>
                <a:cs typeface="Times New Roman"/>
              </a:rPr>
              <a:t>Chuẩn đoán: </a:t>
            </a:r>
            <a:r>
              <a:rPr lang="vi-VN">
                <a:latin typeface="Times New Roman"/>
                <a:cs typeface="Times New Roman"/>
              </a:rPr>
              <a:t>Gán nhãn thông minh kèm xác suất.</a:t>
            </a:r>
          </a:p>
          <a:p>
            <a:pPr marL="285750" indent="-285750">
              <a:buFont typeface="Arial" panose="020B0604020202020204" pitchFamily="34" charset="0"/>
              <a:buChar char="•"/>
            </a:pPr>
            <a:r>
              <a:rPr lang="vi-VN" b="1">
                <a:latin typeface="Times New Roman"/>
                <a:cs typeface="Times New Roman"/>
              </a:rPr>
              <a:t>Quản trị: </a:t>
            </a:r>
            <a:r>
              <a:rPr lang="vi-VN">
                <a:latin typeface="Times New Roman"/>
                <a:cs typeface="Times New Roman"/>
              </a:rPr>
              <a:t>Dashboard trực quan, lưu trữ lịch sử và xuất file PDF.</a:t>
            </a:r>
          </a:p>
        </p:txBody>
      </p:sp>
    </p:spTree>
    <p:extLst>
      <p:ext uri="{BB962C8B-B14F-4D97-AF65-F5344CB8AC3E}">
        <p14:creationId xmlns:p14="http://schemas.microsoft.com/office/powerpoint/2010/main" val="289525597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BA485-1CE9-04D1-0002-614E22E595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C7AB81-634B-0748-F3F0-68EDD6402937}"/>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5" name="Title 4">
            <a:extLst>
              <a:ext uri="{FF2B5EF4-FFF2-40B4-BE49-F238E27FC236}">
                <a16:creationId xmlns:a16="http://schemas.microsoft.com/office/drawing/2014/main" id="{D0653A06-8155-B238-4A70-038ECD20046C}"/>
              </a:ext>
            </a:extLst>
          </p:cNvPr>
          <p:cNvSpPr>
            <a:spLocks noGrp="1"/>
          </p:cNvSpPr>
          <p:nvPr>
            <p:ph type="title"/>
          </p:nvPr>
        </p:nvSpPr>
        <p:spPr/>
        <p:txBody>
          <a:bodyPr lIns="91440" tIns="45720" rIns="91440" bIns="45720" anchor="t"/>
          <a:lstStyle/>
          <a:p>
            <a:r>
              <a:rPr lang="vi-VN">
                <a:latin typeface="Times New Roman"/>
                <a:cs typeface="Times New Roman"/>
              </a:rPr>
              <a:t>IV.	Thông số kỹ thuật dự kiến (Phi chức năng)</a:t>
            </a:r>
            <a:endParaRPr lang="en-US" sz="3000" b="0">
              <a:latin typeface="+mj-lt"/>
              <a:cs typeface="Times New Roman"/>
            </a:endParaRPr>
          </a:p>
        </p:txBody>
      </p:sp>
      <p:sp>
        <p:nvSpPr>
          <p:cNvPr id="6" name="TextBox 5">
            <a:extLst>
              <a:ext uri="{FF2B5EF4-FFF2-40B4-BE49-F238E27FC236}">
                <a16:creationId xmlns:a16="http://schemas.microsoft.com/office/drawing/2014/main" id="{E129727D-D692-61A0-F8C3-21D4B9D24EB5}"/>
              </a:ext>
            </a:extLst>
          </p:cNvPr>
          <p:cNvSpPr txBox="1"/>
          <p:nvPr/>
        </p:nvSpPr>
        <p:spPr>
          <a:xfrm>
            <a:off x="674141" y="1467399"/>
            <a:ext cx="777957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vi-VN" b="1">
                <a:latin typeface="Times New Roman"/>
                <a:cs typeface="Times New Roman"/>
              </a:rPr>
              <a:t>Hiệu năng:</a:t>
            </a:r>
            <a:r>
              <a:rPr lang="vi-VN">
                <a:latin typeface="Times New Roman"/>
                <a:cs typeface="Times New Roman"/>
              </a:rPr>
              <a:t> </a:t>
            </a:r>
            <a:r>
              <a:rPr lang="en-US" altLang="en-US" err="1">
                <a:latin typeface="Times New Roman"/>
                <a:cs typeface="Times New Roman"/>
              </a:rPr>
              <a:t>Độ</a:t>
            </a:r>
            <a:r>
              <a:rPr lang="en-US" altLang="en-US">
                <a:latin typeface="Times New Roman"/>
                <a:cs typeface="Times New Roman"/>
              </a:rPr>
              <a:t> </a:t>
            </a:r>
            <a:r>
              <a:rPr lang="en-US" altLang="en-US" err="1">
                <a:latin typeface="Times New Roman"/>
                <a:cs typeface="Times New Roman"/>
              </a:rPr>
              <a:t>trễ</a:t>
            </a:r>
            <a:r>
              <a:rPr lang="en-US" altLang="en-US">
                <a:latin typeface="Times New Roman"/>
                <a:cs typeface="Times New Roman"/>
              </a:rPr>
              <a:t> </a:t>
            </a:r>
            <a:r>
              <a:rPr lang="en-US" altLang="en-US" err="1">
                <a:latin typeface="Times New Roman"/>
                <a:cs typeface="Times New Roman"/>
              </a:rPr>
              <a:t>toàn</a:t>
            </a:r>
            <a:r>
              <a:rPr lang="en-US" altLang="en-US">
                <a:latin typeface="Times New Roman"/>
                <a:cs typeface="Times New Roman"/>
              </a:rPr>
              <a:t> </a:t>
            </a:r>
            <a:r>
              <a:rPr lang="en-US" altLang="en-US" err="1">
                <a:latin typeface="Times New Roman"/>
                <a:cs typeface="Times New Roman"/>
              </a:rPr>
              <a:t>hệ</a:t>
            </a:r>
            <a:r>
              <a:rPr lang="en-US" altLang="en-US">
                <a:latin typeface="Times New Roman"/>
                <a:cs typeface="Times New Roman"/>
              </a:rPr>
              <a:t> </a:t>
            </a:r>
            <a:r>
              <a:rPr lang="en-US" altLang="en-US" err="1">
                <a:latin typeface="Times New Roman"/>
                <a:cs typeface="Times New Roman"/>
              </a:rPr>
              <a:t>thống</a:t>
            </a:r>
            <a:r>
              <a:rPr lang="en-US" altLang="en-US">
                <a:latin typeface="Times New Roman"/>
                <a:cs typeface="Times New Roman"/>
              </a:rPr>
              <a:t> &lt; 100ms (Real-</a:t>
            </a:r>
            <a:r>
              <a:rPr lang="vi-VN" altLang="en-US">
                <a:latin typeface="Times New Roman"/>
                <a:cs typeface="Times New Roman"/>
              </a:rPr>
              <a:t>time).</a:t>
            </a:r>
          </a:p>
          <a:p>
            <a:pPr marL="285750" indent="-285750">
              <a:buFont typeface="Arial" panose="020B0604020202020204" pitchFamily="34" charset="0"/>
              <a:buChar char="•"/>
            </a:pPr>
            <a:r>
              <a:rPr lang="vi-VN" b="1">
                <a:latin typeface="Times New Roman"/>
                <a:cs typeface="Times New Roman"/>
              </a:rPr>
              <a:t>Độ chính xác: </a:t>
            </a:r>
            <a:r>
              <a:rPr lang="vi-VN">
                <a:latin typeface="Times New Roman"/>
                <a:cs typeface="Times New Roman"/>
              </a:rPr>
              <a:t>Mục tiêu đạt trên 85%.</a:t>
            </a:r>
          </a:p>
          <a:p>
            <a:pPr marL="285750" indent="-285750">
              <a:buFont typeface="Arial" panose="020B0604020202020204" pitchFamily="34" charset="0"/>
              <a:buChar char="•"/>
            </a:pPr>
            <a:r>
              <a:rPr lang="vi-VN" b="1">
                <a:latin typeface="Times New Roman"/>
                <a:cs typeface="Times New Roman"/>
              </a:rPr>
              <a:t>Giao diện: </a:t>
            </a:r>
            <a:r>
              <a:rPr lang="en-US" altLang="en-US" err="1">
                <a:latin typeface="Times New Roman"/>
                <a:cs typeface="Times New Roman"/>
              </a:rPr>
              <a:t>Tối</a:t>
            </a:r>
            <a:r>
              <a:rPr lang="en-US" altLang="en-US">
                <a:latin typeface="Times New Roman"/>
                <a:cs typeface="Times New Roman"/>
              </a:rPr>
              <a:t> </a:t>
            </a:r>
            <a:r>
              <a:rPr lang="en-US" altLang="en-US" err="1">
                <a:latin typeface="Times New Roman"/>
                <a:cs typeface="Times New Roman"/>
              </a:rPr>
              <a:t>ưu</a:t>
            </a:r>
            <a:r>
              <a:rPr lang="en-US" altLang="en-US">
                <a:latin typeface="Times New Roman"/>
                <a:cs typeface="Times New Roman"/>
              </a:rPr>
              <a:t> </a:t>
            </a:r>
            <a:r>
              <a:rPr lang="en-US" altLang="en-US" err="1">
                <a:latin typeface="Times New Roman"/>
                <a:cs typeface="Times New Roman"/>
              </a:rPr>
              <a:t>cho</a:t>
            </a:r>
            <a:r>
              <a:rPr lang="en-US" altLang="en-US">
                <a:latin typeface="Times New Roman"/>
                <a:cs typeface="Times New Roman"/>
              </a:rPr>
              <a:t> </a:t>
            </a:r>
            <a:r>
              <a:rPr lang="en-US" altLang="en-US" err="1">
                <a:latin typeface="Times New Roman"/>
                <a:cs typeface="Times New Roman"/>
              </a:rPr>
              <a:t>người</a:t>
            </a:r>
            <a:r>
              <a:rPr lang="en-US" altLang="en-US">
                <a:latin typeface="Times New Roman"/>
                <a:cs typeface="Times New Roman"/>
              </a:rPr>
              <a:t> </a:t>
            </a:r>
            <a:r>
              <a:rPr lang="en-US" altLang="en-US" err="1">
                <a:latin typeface="Times New Roman"/>
                <a:cs typeface="Times New Roman"/>
              </a:rPr>
              <a:t>bệnh</a:t>
            </a:r>
            <a:r>
              <a:rPr lang="en-US" altLang="en-US">
                <a:latin typeface="Times New Roman"/>
                <a:cs typeface="Times New Roman"/>
              </a:rPr>
              <a:t> (</a:t>
            </a:r>
            <a:r>
              <a:rPr lang="en-US" altLang="en-US" err="1">
                <a:latin typeface="Times New Roman"/>
                <a:cs typeface="Times New Roman"/>
              </a:rPr>
              <a:t>Nút</a:t>
            </a:r>
            <a:r>
              <a:rPr lang="en-US" altLang="en-US">
                <a:latin typeface="Times New Roman"/>
                <a:cs typeface="Times New Roman"/>
              </a:rPr>
              <a:t> </a:t>
            </a:r>
            <a:r>
              <a:rPr lang="en-US" altLang="en-US" err="1">
                <a:latin typeface="Times New Roman"/>
                <a:cs typeface="Times New Roman"/>
              </a:rPr>
              <a:t>bấm</a:t>
            </a:r>
            <a:r>
              <a:rPr lang="en-US" altLang="en-US">
                <a:latin typeface="Times New Roman"/>
                <a:cs typeface="Times New Roman"/>
              </a:rPr>
              <a:t> </a:t>
            </a:r>
            <a:r>
              <a:rPr lang="en-US" altLang="en-US" err="1">
                <a:latin typeface="Times New Roman"/>
                <a:cs typeface="Times New Roman"/>
              </a:rPr>
              <a:t>lớn</a:t>
            </a:r>
            <a:r>
              <a:rPr lang="en-US" altLang="en-US">
                <a:latin typeface="Times New Roman"/>
                <a:cs typeface="Times New Roman"/>
              </a:rPr>
              <a:t>, font &gt; 14pt).</a:t>
            </a:r>
            <a:endParaRPr lang="vi-VN" altLang="en-US">
              <a:latin typeface="Times New Roman"/>
              <a:cs typeface="Times New Roman"/>
            </a:endParaRPr>
          </a:p>
          <a:p>
            <a:pPr marL="285750" indent="-285750">
              <a:buFont typeface="Arial" panose="020B0604020202020204" pitchFamily="34" charset="0"/>
              <a:buChar char="•"/>
            </a:pPr>
            <a:r>
              <a:rPr lang="vi-VN" altLang="en-US" b="1">
                <a:latin typeface="Times New Roman"/>
                <a:cs typeface="Times New Roman"/>
              </a:rPr>
              <a:t>Khả năng mở rộng:</a:t>
            </a:r>
            <a:r>
              <a:rPr lang="en-US" altLang="en-US" b="1">
                <a:latin typeface="Times New Roman"/>
                <a:cs typeface="Times New Roman"/>
              </a:rPr>
              <a:t> </a:t>
            </a:r>
            <a:r>
              <a:rPr lang="en-US" altLang="en-US" err="1">
                <a:latin typeface="Times New Roman"/>
                <a:cs typeface="Times New Roman"/>
              </a:rPr>
              <a:t>Thiết</a:t>
            </a:r>
            <a:r>
              <a:rPr lang="en-US" altLang="en-US">
                <a:latin typeface="Times New Roman"/>
                <a:cs typeface="Times New Roman"/>
              </a:rPr>
              <a:t> </a:t>
            </a:r>
            <a:r>
              <a:rPr lang="en-US" altLang="en-US" err="1">
                <a:latin typeface="Times New Roman"/>
                <a:cs typeface="Times New Roman"/>
              </a:rPr>
              <a:t>kế</a:t>
            </a:r>
            <a:r>
              <a:rPr lang="en-US" altLang="en-US">
                <a:latin typeface="Times New Roman"/>
                <a:cs typeface="Times New Roman"/>
              </a:rPr>
              <a:t> </a:t>
            </a:r>
            <a:r>
              <a:rPr lang="en-US" altLang="en-US" err="1">
                <a:latin typeface="Times New Roman"/>
                <a:cs typeface="Times New Roman"/>
              </a:rPr>
              <a:t>dạng</a:t>
            </a:r>
            <a:r>
              <a:rPr lang="en-US" altLang="en-US">
                <a:latin typeface="Times New Roman"/>
                <a:cs typeface="Times New Roman"/>
              </a:rPr>
              <a:t> Module </a:t>
            </a:r>
            <a:r>
              <a:rPr lang="en-US" altLang="en-US" err="1">
                <a:latin typeface="Times New Roman"/>
                <a:cs typeface="Times New Roman"/>
              </a:rPr>
              <a:t>để</a:t>
            </a:r>
            <a:r>
              <a:rPr lang="en-US" altLang="en-US">
                <a:latin typeface="Times New Roman"/>
                <a:cs typeface="Times New Roman"/>
              </a:rPr>
              <a:t> </a:t>
            </a:r>
            <a:r>
              <a:rPr lang="en-US" altLang="en-US" err="1">
                <a:latin typeface="Times New Roman"/>
                <a:cs typeface="Times New Roman"/>
              </a:rPr>
              <a:t>thêm</a:t>
            </a:r>
            <a:r>
              <a:rPr lang="en-US" altLang="en-US">
                <a:latin typeface="Times New Roman"/>
                <a:cs typeface="Times New Roman"/>
              </a:rPr>
              <a:t> </a:t>
            </a:r>
            <a:r>
              <a:rPr lang="en-US" altLang="en-US" err="1">
                <a:latin typeface="Times New Roman"/>
                <a:cs typeface="Times New Roman"/>
              </a:rPr>
              <a:t>cảm</a:t>
            </a:r>
            <a:r>
              <a:rPr lang="en-US" altLang="en-US">
                <a:latin typeface="Times New Roman"/>
                <a:cs typeface="Times New Roman"/>
              </a:rPr>
              <a:t> </a:t>
            </a:r>
            <a:r>
              <a:rPr lang="en-US" altLang="en-US" err="1">
                <a:latin typeface="Times New Roman"/>
                <a:cs typeface="Times New Roman"/>
              </a:rPr>
              <a:t>biến</a:t>
            </a:r>
            <a:r>
              <a:rPr lang="en-US" altLang="en-US">
                <a:latin typeface="Times New Roman"/>
                <a:cs typeface="Times New Roman"/>
              </a:rPr>
              <a:t> </a:t>
            </a:r>
            <a:r>
              <a:rPr lang="en-US" altLang="en-US" err="1">
                <a:latin typeface="Times New Roman"/>
                <a:cs typeface="Times New Roman"/>
              </a:rPr>
              <a:t>âm</a:t>
            </a:r>
            <a:r>
              <a:rPr lang="en-US" altLang="en-US">
                <a:latin typeface="Times New Roman"/>
                <a:cs typeface="Times New Roman"/>
              </a:rPr>
              <a:t> </a:t>
            </a:r>
            <a:r>
              <a:rPr lang="en-US" altLang="en-US" err="1">
                <a:latin typeface="Times New Roman"/>
                <a:cs typeface="Times New Roman"/>
              </a:rPr>
              <a:t>thanh</a:t>
            </a:r>
            <a:r>
              <a:rPr lang="en-US" altLang="en-US">
                <a:latin typeface="Times New Roman"/>
                <a:cs typeface="Times New Roman"/>
              </a:rPr>
              <a:t>/</a:t>
            </a:r>
            <a:r>
              <a:rPr lang="en-US" altLang="en-US" err="1">
                <a:latin typeface="Times New Roman"/>
                <a:cs typeface="Times New Roman"/>
              </a:rPr>
              <a:t>gia</a:t>
            </a:r>
            <a:r>
              <a:rPr lang="en-US" altLang="en-US">
                <a:latin typeface="Times New Roman"/>
                <a:cs typeface="Times New Roman"/>
              </a:rPr>
              <a:t> </a:t>
            </a:r>
            <a:r>
              <a:rPr lang="en-US" altLang="en-US" err="1">
                <a:latin typeface="Times New Roman"/>
                <a:cs typeface="Times New Roman"/>
              </a:rPr>
              <a:t>tốc</a:t>
            </a:r>
            <a:r>
              <a:rPr lang="en-US" altLang="en-US">
                <a:latin typeface="Times New Roman"/>
                <a:cs typeface="Times New Roman"/>
              </a:rPr>
              <a:t> </a:t>
            </a:r>
            <a:r>
              <a:rPr lang="en-US" altLang="en-US" err="1">
                <a:latin typeface="Times New Roman"/>
                <a:cs typeface="Times New Roman"/>
              </a:rPr>
              <a:t>sau</a:t>
            </a:r>
            <a:r>
              <a:rPr lang="en-US" altLang="en-US">
                <a:latin typeface="Times New Roman"/>
                <a:cs typeface="Times New Roman"/>
              </a:rPr>
              <a:t> </a:t>
            </a:r>
            <a:r>
              <a:rPr lang="vi-VN" altLang="en-US">
                <a:latin typeface="Times New Roman"/>
                <a:cs typeface="Times New Roman"/>
              </a:rPr>
              <a:t>này.</a:t>
            </a:r>
            <a:endParaRPr lang="en-US" altLang="en-US">
              <a:latin typeface="Times New Roman"/>
              <a:cs typeface="Times New Roman"/>
            </a:endParaRPr>
          </a:p>
          <a:p>
            <a:pPr marL="285750" indent="-285750">
              <a:buFont typeface="Arial" panose="020B0604020202020204" pitchFamily="34" charset="0"/>
              <a:buChar char="•"/>
            </a:pPr>
            <a:endParaRPr lang="vi-VN"/>
          </a:p>
        </p:txBody>
      </p:sp>
    </p:spTree>
    <p:extLst>
      <p:ext uri="{BB962C8B-B14F-4D97-AF65-F5344CB8AC3E}">
        <p14:creationId xmlns:p14="http://schemas.microsoft.com/office/powerpoint/2010/main" val="4191015300"/>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E6F6E-80F1-5D81-BD75-1447E44CEC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1FF15-359A-0322-A91A-7606CC2D3071}"/>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5" name="Title 4">
            <a:extLst>
              <a:ext uri="{FF2B5EF4-FFF2-40B4-BE49-F238E27FC236}">
                <a16:creationId xmlns:a16="http://schemas.microsoft.com/office/drawing/2014/main" id="{9708330F-49EE-451A-6CE5-31437E8E4647}"/>
              </a:ext>
            </a:extLst>
          </p:cNvPr>
          <p:cNvSpPr>
            <a:spLocks noGrp="1"/>
          </p:cNvSpPr>
          <p:nvPr>
            <p:ph type="title"/>
          </p:nvPr>
        </p:nvSpPr>
        <p:spPr/>
        <p:txBody>
          <a:bodyPr lIns="91440" tIns="45720" rIns="91440" bIns="45720" anchor="t"/>
          <a:lstStyle/>
          <a:p>
            <a:r>
              <a:rPr lang="vi-VN">
                <a:latin typeface="Times New Roman"/>
                <a:cs typeface="Times New Roman"/>
              </a:rPr>
              <a:t>V.	Tiến độ thực hiện</a:t>
            </a:r>
            <a:endParaRPr lang="en-US" sz="3000" b="0">
              <a:latin typeface="+mj-lt"/>
              <a:cs typeface="Times New Roman"/>
            </a:endParaRPr>
          </a:p>
        </p:txBody>
      </p:sp>
      <p:sp>
        <p:nvSpPr>
          <p:cNvPr id="6" name="TextBox 5">
            <a:extLst>
              <a:ext uri="{FF2B5EF4-FFF2-40B4-BE49-F238E27FC236}">
                <a16:creationId xmlns:a16="http://schemas.microsoft.com/office/drawing/2014/main" id="{A425CAB6-B4B7-C720-29B5-A110CD40DBE7}"/>
              </a:ext>
            </a:extLst>
          </p:cNvPr>
          <p:cNvSpPr txBox="1"/>
          <p:nvPr/>
        </p:nvSpPr>
        <p:spPr>
          <a:xfrm>
            <a:off x="674141" y="1467399"/>
            <a:ext cx="777957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b="1">
                <a:latin typeface="Times New Roman"/>
                <a:cs typeface="Times New Roman"/>
              </a:rPr>
              <a:t>Tuần 1:</a:t>
            </a:r>
            <a:endParaRPr lang="en-US">
              <a:latin typeface="Times New Roman"/>
              <a:cs typeface="Times New Roman"/>
            </a:endParaRPr>
          </a:p>
          <a:p>
            <a:pPr marL="742950" lvl="1" indent="-285750">
              <a:buFont typeface="Arial" panose="020B0604020202020204" pitchFamily="34" charset="0"/>
              <a:buChar char="•"/>
            </a:pPr>
            <a:r>
              <a:rPr lang="en-US" err="1">
                <a:latin typeface="Times New Roman"/>
                <a:cs typeface="Times New Roman"/>
              </a:rPr>
              <a:t>Nghiên</a:t>
            </a:r>
            <a:r>
              <a:rPr lang="en-US">
                <a:latin typeface="Times New Roman"/>
                <a:cs typeface="Times New Roman"/>
              </a:rPr>
              <a:t> </a:t>
            </a:r>
            <a:r>
              <a:rPr lang="en-US" err="1">
                <a:latin typeface="Times New Roman"/>
                <a:cs typeface="Times New Roman"/>
              </a:rPr>
              <a:t>cứu</a:t>
            </a:r>
            <a:r>
              <a:rPr lang="en-US">
                <a:latin typeface="Times New Roman"/>
                <a:cs typeface="Times New Roman"/>
              </a:rPr>
              <a:t> </a:t>
            </a:r>
            <a:r>
              <a:rPr lang="en-US" err="1">
                <a:latin typeface="Times New Roman"/>
                <a:cs typeface="Times New Roman"/>
              </a:rPr>
              <a:t>tài</a:t>
            </a:r>
            <a:r>
              <a:rPr lang="en-US">
                <a:latin typeface="Times New Roman"/>
                <a:cs typeface="Times New Roman"/>
              </a:rPr>
              <a:t> </a:t>
            </a:r>
            <a:r>
              <a:rPr lang="en-US" err="1">
                <a:latin typeface="Times New Roman"/>
                <a:cs typeface="Times New Roman"/>
              </a:rPr>
              <a:t>liệu</a:t>
            </a:r>
            <a:r>
              <a:rPr lang="en-US">
                <a:latin typeface="Times New Roman"/>
                <a:cs typeface="Times New Roman"/>
              </a:rPr>
              <a:t> </a:t>
            </a:r>
            <a:r>
              <a:rPr lang="en-US" err="1">
                <a:latin typeface="Times New Roman"/>
                <a:cs typeface="Times New Roman"/>
              </a:rPr>
              <a:t>chuyên</a:t>
            </a:r>
            <a:r>
              <a:rPr lang="en-US">
                <a:latin typeface="Times New Roman"/>
                <a:cs typeface="Times New Roman"/>
              </a:rPr>
              <a:t> </a:t>
            </a:r>
            <a:r>
              <a:rPr lang="en-US" err="1">
                <a:latin typeface="Times New Roman"/>
                <a:cs typeface="Times New Roman"/>
              </a:rPr>
              <a:t>ngành</a:t>
            </a:r>
            <a:r>
              <a:rPr lang="en-US">
                <a:latin typeface="Times New Roman"/>
                <a:cs typeface="Times New Roman"/>
              </a:rPr>
              <a:t> </a:t>
            </a:r>
            <a:r>
              <a:rPr lang="en-US" err="1">
                <a:latin typeface="Times New Roman"/>
                <a:cs typeface="Times New Roman"/>
              </a:rPr>
              <a:t>về</a:t>
            </a:r>
            <a:r>
              <a:rPr lang="en-US">
                <a:latin typeface="Times New Roman"/>
                <a:cs typeface="Times New Roman"/>
              </a:rPr>
              <a:t> Parkinson.</a:t>
            </a:r>
            <a:endParaRPr lang="vi-VN">
              <a:latin typeface="Times New Roman"/>
              <a:cs typeface="Times New Roman"/>
            </a:endParaRPr>
          </a:p>
          <a:p>
            <a:pPr marL="742950" lvl="1" indent="-285750">
              <a:buFont typeface="Arial" panose="020B0604020202020204" pitchFamily="34" charset="0"/>
              <a:buChar char="•"/>
            </a:pPr>
            <a:r>
              <a:rPr lang="en-US" err="1">
                <a:latin typeface="Times New Roman"/>
                <a:cs typeface="Times New Roman"/>
              </a:rPr>
              <a:t>Xác</a:t>
            </a:r>
            <a:r>
              <a:rPr lang="en-US">
                <a:latin typeface="Times New Roman"/>
                <a:cs typeface="Times New Roman"/>
              </a:rPr>
              <a:t> </a:t>
            </a:r>
            <a:r>
              <a:rPr lang="en-US" err="1">
                <a:latin typeface="Times New Roman"/>
                <a:cs typeface="Times New Roman"/>
              </a:rPr>
              <a:t>định</a:t>
            </a:r>
            <a:r>
              <a:rPr lang="en-US">
                <a:latin typeface="Times New Roman"/>
                <a:cs typeface="Times New Roman"/>
              </a:rPr>
              <a:t> </a:t>
            </a:r>
            <a:r>
              <a:rPr lang="en-US" err="1">
                <a:latin typeface="Times New Roman"/>
                <a:cs typeface="Times New Roman"/>
              </a:rPr>
              <a:t>các</a:t>
            </a:r>
            <a:r>
              <a:rPr lang="en-US">
                <a:latin typeface="Times New Roman"/>
                <a:cs typeface="Times New Roman"/>
              </a:rPr>
              <a:t> </a:t>
            </a:r>
            <a:r>
              <a:rPr lang="en-US" err="1">
                <a:latin typeface="Times New Roman"/>
                <a:cs typeface="Times New Roman"/>
              </a:rPr>
              <a:t>yêu</a:t>
            </a:r>
            <a:r>
              <a:rPr lang="en-US">
                <a:latin typeface="Times New Roman"/>
                <a:cs typeface="Times New Roman"/>
              </a:rPr>
              <a:t> </a:t>
            </a:r>
            <a:r>
              <a:rPr lang="en-US" err="1">
                <a:latin typeface="Times New Roman"/>
                <a:cs typeface="Times New Roman"/>
              </a:rPr>
              <a:t>cầu</a:t>
            </a:r>
            <a:r>
              <a:rPr lang="en-US">
                <a:latin typeface="Times New Roman"/>
                <a:cs typeface="Times New Roman"/>
              </a:rPr>
              <a:t> </a:t>
            </a:r>
            <a:r>
              <a:rPr lang="en-US" err="1">
                <a:latin typeface="Times New Roman"/>
                <a:cs typeface="Times New Roman"/>
              </a:rPr>
              <a:t>chức</a:t>
            </a:r>
            <a:r>
              <a:rPr lang="en-US">
                <a:latin typeface="Times New Roman"/>
                <a:cs typeface="Times New Roman"/>
              </a:rPr>
              <a:t> </a:t>
            </a:r>
            <a:r>
              <a:rPr lang="en-US" err="1">
                <a:latin typeface="Times New Roman"/>
                <a:cs typeface="Times New Roman"/>
              </a:rPr>
              <a:t>năng</a:t>
            </a:r>
            <a:r>
              <a:rPr lang="en-US">
                <a:latin typeface="Times New Roman"/>
                <a:cs typeface="Times New Roman"/>
              </a:rPr>
              <a:t> </a:t>
            </a:r>
            <a:r>
              <a:rPr lang="en-US" err="1">
                <a:latin typeface="Times New Roman"/>
                <a:cs typeface="Times New Roman"/>
              </a:rPr>
              <a:t>và</a:t>
            </a:r>
            <a:r>
              <a:rPr lang="en-US">
                <a:latin typeface="Times New Roman"/>
                <a:cs typeface="Times New Roman"/>
              </a:rPr>
              <a:t> phi </a:t>
            </a:r>
            <a:r>
              <a:rPr lang="en-US" err="1">
                <a:latin typeface="Times New Roman"/>
                <a:cs typeface="Times New Roman"/>
              </a:rPr>
              <a:t>chức</a:t>
            </a:r>
            <a:r>
              <a:rPr lang="en-US">
                <a:latin typeface="Times New Roman"/>
                <a:cs typeface="Times New Roman"/>
              </a:rPr>
              <a:t> </a:t>
            </a:r>
            <a:r>
              <a:rPr lang="en-US" err="1">
                <a:latin typeface="Times New Roman"/>
                <a:cs typeface="Times New Roman"/>
              </a:rPr>
              <a:t>năng</a:t>
            </a:r>
            <a:r>
              <a:rPr lang="en-US">
                <a:latin typeface="Times New Roman"/>
                <a:cs typeface="Times New Roman"/>
              </a:rPr>
              <a:t>.</a:t>
            </a:r>
            <a:endParaRPr lang="vi-VN">
              <a:latin typeface="Times New Roman"/>
              <a:cs typeface="Times New Roman"/>
            </a:endParaRPr>
          </a:p>
          <a:p>
            <a:pPr marL="742950" lvl="1" indent="-285750">
              <a:buFont typeface="Arial" panose="020B0604020202020204" pitchFamily="34" charset="0"/>
              <a:buChar char="•"/>
            </a:pPr>
            <a:r>
              <a:rPr lang="en-US" err="1">
                <a:latin typeface="Times New Roman"/>
                <a:cs typeface="Times New Roman"/>
              </a:rPr>
              <a:t>Lựa</a:t>
            </a:r>
            <a:r>
              <a:rPr lang="en-US">
                <a:latin typeface="Times New Roman"/>
                <a:cs typeface="Times New Roman"/>
              </a:rPr>
              <a:t> </a:t>
            </a:r>
            <a:r>
              <a:rPr lang="en-US" err="1">
                <a:latin typeface="Times New Roman"/>
                <a:cs typeface="Times New Roman"/>
              </a:rPr>
              <a:t>chọn</a:t>
            </a:r>
            <a:r>
              <a:rPr lang="en-US">
                <a:latin typeface="Times New Roman"/>
                <a:cs typeface="Times New Roman"/>
              </a:rPr>
              <a:t> </a:t>
            </a:r>
            <a:r>
              <a:rPr lang="en-US" err="1">
                <a:latin typeface="Times New Roman"/>
                <a:cs typeface="Times New Roman"/>
              </a:rPr>
              <a:t>công</a:t>
            </a:r>
            <a:r>
              <a:rPr lang="en-US">
                <a:latin typeface="Times New Roman"/>
                <a:cs typeface="Times New Roman"/>
              </a:rPr>
              <a:t> </a:t>
            </a:r>
            <a:r>
              <a:rPr lang="en-US" err="1">
                <a:latin typeface="Times New Roman"/>
                <a:cs typeface="Times New Roman"/>
              </a:rPr>
              <a:t>nghệ</a:t>
            </a:r>
            <a:r>
              <a:rPr lang="en-US">
                <a:latin typeface="Times New Roman"/>
                <a:cs typeface="Times New Roman"/>
              </a:rPr>
              <a:t> (Python, </a:t>
            </a:r>
            <a:r>
              <a:rPr lang="vi-VN">
                <a:latin typeface="Times New Roman"/>
                <a:cs typeface="Times New Roman"/>
              </a:rPr>
              <a:t>MediaPipe, ...)</a:t>
            </a:r>
          </a:p>
          <a:p>
            <a:r>
              <a:rPr lang="vi-VN" b="1">
                <a:latin typeface="Times New Roman"/>
                <a:cs typeface="Times New Roman"/>
              </a:rPr>
              <a:t>Tuần 2:</a:t>
            </a:r>
          </a:p>
          <a:p>
            <a:pPr marL="742950" lvl="1" indent="-285750">
              <a:buFont typeface="Arial" panose="020B0604020202020204" pitchFamily="34" charset="0"/>
              <a:buChar char="•"/>
            </a:pPr>
            <a:r>
              <a:rPr lang="en-US" err="1">
                <a:latin typeface="Times New Roman"/>
                <a:cs typeface="Times New Roman"/>
              </a:rPr>
              <a:t>Thiết</a:t>
            </a:r>
            <a:r>
              <a:rPr lang="en-US">
                <a:latin typeface="Times New Roman"/>
                <a:cs typeface="Times New Roman"/>
              </a:rPr>
              <a:t> </a:t>
            </a:r>
            <a:r>
              <a:rPr lang="en-US" err="1">
                <a:latin typeface="Times New Roman"/>
                <a:cs typeface="Times New Roman"/>
              </a:rPr>
              <a:t>kế</a:t>
            </a:r>
            <a:r>
              <a:rPr lang="en-US">
                <a:latin typeface="Times New Roman"/>
                <a:cs typeface="Times New Roman"/>
              </a:rPr>
              <a:t> </a:t>
            </a:r>
            <a:r>
              <a:rPr lang="en-US" err="1">
                <a:latin typeface="Times New Roman"/>
                <a:cs typeface="Times New Roman"/>
              </a:rPr>
              <a:t>kiến</a:t>
            </a:r>
            <a:r>
              <a:rPr lang="en-US">
                <a:latin typeface="Times New Roman"/>
                <a:cs typeface="Times New Roman"/>
              </a:rPr>
              <a:t> </a:t>
            </a:r>
            <a:r>
              <a:rPr lang="en-US" err="1">
                <a:latin typeface="Times New Roman"/>
                <a:cs typeface="Times New Roman"/>
              </a:rPr>
              <a:t>trúc</a:t>
            </a:r>
            <a:r>
              <a:rPr lang="en-US">
                <a:latin typeface="Times New Roman"/>
                <a:cs typeface="Times New Roman"/>
              </a:rPr>
              <a:t> chi </a:t>
            </a:r>
            <a:r>
              <a:rPr lang="en-US" err="1">
                <a:latin typeface="Times New Roman"/>
                <a:cs typeface="Times New Roman"/>
              </a:rPr>
              <a:t>tiết</a:t>
            </a:r>
            <a:r>
              <a:rPr lang="en-US">
                <a:latin typeface="Times New Roman"/>
                <a:cs typeface="Times New Roman"/>
              </a:rPr>
              <a:t> </a:t>
            </a:r>
            <a:r>
              <a:rPr lang="en-US" err="1">
                <a:latin typeface="Times New Roman"/>
                <a:cs typeface="Times New Roman"/>
              </a:rPr>
              <a:t>của</a:t>
            </a:r>
            <a:r>
              <a:rPr lang="en-US">
                <a:latin typeface="Times New Roman"/>
                <a:cs typeface="Times New Roman"/>
              </a:rPr>
              <a:t> Module </a:t>
            </a:r>
            <a:r>
              <a:rPr lang="en-US" err="1">
                <a:latin typeface="Times New Roman"/>
                <a:cs typeface="Times New Roman"/>
              </a:rPr>
              <a:t>thu</a:t>
            </a:r>
            <a:r>
              <a:rPr lang="en-US">
                <a:latin typeface="Times New Roman"/>
                <a:cs typeface="Times New Roman"/>
              </a:rPr>
              <a:t> </a:t>
            </a:r>
            <a:r>
              <a:rPr lang="en-US" err="1">
                <a:latin typeface="Times New Roman"/>
                <a:cs typeface="Times New Roman"/>
              </a:rPr>
              <a:t>nhận</a:t>
            </a:r>
            <a:r>
              <a:rPr lang="en-US">
                <a:latin typeface="Times New Roman"/>
                <a:cs typeface="Times New Roman"/>
              </a:rPr>
              <a:t> </a:t>
            </a:r>
            <a:r>
              <a:rPr lang="en-US" err="1">
                <a:latin typeface="Times New Roman"/>
                <a:cs typeface="Times New Roman"/>
              </a:rPr>
              <a:t>dữ</a:t>
            </a:r>
            <a:r>
              <a:rPr lang="en-US">
                <a:latin typeface="Times New Roman"/>
                <a:cs typeface="Times New Roman"/>
              </a:rPr>
              <a:t> </a:t>
            </a:r>
            <a:r>
              <a:rPr lang="en-US" err="1">
                <a:latin typeface="Times New Roman"/>
                <a:cs typeface="Times New Roman"/>
              </a:rPr>
              <a:t>liệu</a:t>
            </a:r>
            <a:r>
              <a:rPr lang="en-US">
                <a:latin typeface="Times New Roman"/>
                <a:cs typeface="Times New Roman"/>
              </a:rPr>
              <a:t>. </a:t>
            </a:r>
            <a:endParaRPr lang="vi-VN">
              <a:latin typeface="Times New Roman"/>
              <a:cs typeface="Times New Roman"/>
            </a:endParaRPr>
          </a:p>
          <a:p>
            <a:pPr marL="742950" lvl="1" indent="-285750">
              <a:buFont typeface="Arial" panose="020B0604020202020204" pitchFamily="34" charset="0"/>
              <a:buChar char="•"/>
            </a:pPr>
            <a:r>
              <a:rPr lang="en-US">
                <a:latin typeface="Times New Roman"/>
                <a:cs typeface="Times New Roman"/>
              </a:rPr>
              <a:t>Thu </a:t>
            </a:r>
            <a:r>
              <a:rPr lang="en-US" err="1">
                <a:latin typeface="Times New Roman"/>
                <a:cs typeface="Times New Roman"/>
              </a:rPr>
              <a:t>thập</a:t>
            </a:r>
            <a:r>
              <a:rPr lang="en-US">
                <a:latin typeface="Times New Roman"/>
                <a:cs typeface="Times New Roman"/>
              </a:rPr>
              <a:t>/</a:t>
            </a:r>
            <a:r>
              <a:rPr lang="en-US" err="1">
                <a:latin typeface="Times New Roman"/>
                <a:cs typeface="Times New Roman"/>
              </a:rPr>
              <a:t>Tìm</a:t>
            </a:r>
            <a:r>
              <a:rPr lang="en-US">
                <a:latin typeface="Times New Roman"/>
                <a:cs typeface="Times New Roman"/>
              </a:rPr>
              <a:t> </a:t>
            </a:r>
            <a:r>
              <a:rPr lang="en-US" err="1">
                <a:latin typeface="Times New Roman"/>
                <a:cs typeface="Times New Roman"/>
              </a:rPr>
              <a:t>kiếm</a:t>
            </a:r>
            <a:r>
              <a:rPr lang="en-US">
                <a:latin typeface="Times New Roman"/>
                <a:cs typeface="Times New Roman"/>
              </a:rPr>
              <a:t> </a:t>
            </a:r>
            <a:r>
              <a:rPr lang="en-US" err="1">
                <a:latin typeface="Times New Roman"/>
                <a:cs typeface="Times New Roman"/>
              </a:rPr>
              <a:t>tập</a:t>
            </a:r>
            <a:r>
              <a:rPr lang="en-US">
                <a:latin typeface="Times New Roman"/>
                <a:cs typeface="Times New Roman"/>
              </a:rPr>
              <a:t> </a:t>
            </a:r>
            <a:r>
              <a:rPr lang="en-US" err="1">
                <a:latin typeface="Times New Roman"/>
                <a:cs typeface="Times New Roman"/>
              </a:rPr>
              <a:t>dữ</a:t>
            </a:r>
            <a:r>
              <a:rPr lang="en-US">
                <a:latin typeface="Times New Roman"/>
                <a:cs typeface="Times New Roman"/>
              </a:rPr>
              <a:t> </a:t>
            </a:r>
            <a:r>
              <a:rPr lang="en-US" err="1">
                <a:latin typeface="Times New Roman"/>
                <a:cs typeface="Times New Roman"/>
              </a:rPr>
              <a:t>liệu</a:t>
            </a:r>
            <a:r>
              <a:rPr lang="en-US">
                <a:latin typeface="Times New Roman"/>
                <a:cs typeface="Times New Roman"/>
              </a:rPr>
              <a:t> </a:t>
            </a:r>
            <a:r>
              <a:rPr lang="en-US" err="1">
                <a:latin typeface="Times New Roman"/>
                <a:cs typeface="Times New Roman"/>
              </a:rPr>
              <a:t>mẫu</a:t>
            </a:r>
            <a:r>
              <a:rPr lang="en-US">
                <a:latin typeface="Times New Roman"/>
                <a:cs typeface="Times New Roman"/>
              </a:rPr>
              <a:t> (Dataset) </a:t>
            </a:r>
            <a:r>
              <a:rPr lang="en-US" err="1">
                <a:latin typeface="Times New Roman"/>
                <a:cs typeface="Times New Roman"/>
              </a:rPr>
              <a:t>về</a:t>
            </a:r>
            <a:r>
              <a:rPr lang="en-US">
                <a:latin typeface="Times New Roman"/>
                <a:cs typeface="Times New Roman"/>
              </a:rPr>
              <a:t> </a:t>
            </a:r>
            <a:r>
              <a:rPr lang="en-US" err="1">
                <a:latin typeface="Times New Roman"/>
                <a:cs typeface="Times New Roman"/>
              </a:rPr>
              <a:t>hành</a:t>
            </a:r>
            <a:r>
              <a:rPr lang="en-US">
                <a:latin typeface="Times New Roman"/>
                <a:cs typeface="Times New Roman"/>
              </a:rPr>
              <a:t> vi run </a:t>
            </a:r>
            <a:r>
              <a:rPr lang="en-US" err="1">
                <a:latin typeface="Times New Roman"/>
                <a:cs typeface="Times New Roman"/>
              </a:rPr>
              <a:t>tay</a:t>
            </a:r>
            <a:r>
              <a:rPr lang="en-US">
                <a:latin typeface="Times New Roman"/>
                <a:cs typeface="Times New Roman"/>
              </a:rPr>
              <a:t>.</a:t>
            </a:r>
            <a:endParaRPr lang="vi-VN">
              <a:latin typeface="Times New Roman"/>
              <a:cs typeface="Times New Roman"/>
            </a:endParaRPr>
          </a:p>
        </p:txBody>
      </p:sp>
    </p:spTree>
    <p:extLst>
      <p:ext uri="{BB962C8B-B14F-4D97-AF65-F5344CB8AC3E}">
        <p14:creationId xmlns:p14="http://schemas.microsoft.com/office/powerpoint/2010/main" val="1182688010"/>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9</a:t>
            </a:fld>
            <a:endParaRPr lang="en-US"/>
          </a:p>
        </p:txBody>
      </p:sp>
    </p:spTree>
    <p:extLst>
      <p:ext uri="{BB962C8B-B14F-4D97-AF65-F5344CB8AC3E}">
        <p14:creationId xmlns:p14="http://schemas.microsoft.com/office/powerpoint/2010/main" val="3194012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994D1-B0B9-97CB-A9B2-4F2D31319A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7508968A-F2A2-8005-6E03-B78E65864C7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10</a:t>
            </a:fld>
            <a:endParaRPr lang="en-US"/>
          </a:p>
        </p:txBody>
      </p:sp>
    </p:spTree>
    <p:extLst>
      <p:ext uri="{BB962C8B-B14F-4D97-AF65-F5344CB8AC3E}">
        <p14:creationId xmlns:p14="http://schemas.microsoft.com/office/powerpoint/2010/main" val="3651498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12</a:t>
            </a:fld>
            <a:endParaRPr lang="en-US"/>
          </a:p>
        </p:txBody>
      </p:sp>
    </p:spTree>
    <p:extLst>
      <p:ext uri="{BB962C8B-B14F-4D97-AF65-F5344CB8AC3E}">
        <p14:creationId xmlns:p14="http://schemas.microsoft.com/office/powerpoint/2010/main" val="2581069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Đặt vấn đề</vt:lpstr>
      <vt:lpstr>II. Mục tiêu và giải pháp kỹ thuật</vt:lpstr>
      <vt:lpstr>III. Phân tích yêu cầu hệ thống (Chức năng)</vt:lpstr>
      <vt:lpstr>IV. Thông số kỹ thuật dự kiến (Phi chức năng)</vt:lpstr>
      <vt:lpstr>V. Tiến độ thực hiện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revision>3</cp:revision>
  <dcterms:created xsi:type="dcterms:W3CDTF">2021-05-28T04:32:29Z</dcterms:created>
  <dcterms:modified xsi:type="dcterms:W3CDTF">2026-03-13T13:30:19Z</dcterms:modified>
</cp:coreProperties>
</file>